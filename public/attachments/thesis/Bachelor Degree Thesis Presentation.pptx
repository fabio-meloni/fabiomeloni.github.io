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5" r:id="rId9"/>
    <p:sldId id="266" r:id="rId10"/>
    <p:sldId id="264" r:id="rId11"/>
    <p:sldId id="267" r:id="rId12"/>
    <p:sldId id="268" r:id="rId1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A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79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4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8CA33CDA-45E8-8E58-970F-1B8D25CE88A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1DD524E-2D77-F76E-8C7D-1773D3550F3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D94E6E-8F79-4C1E-9EC0-1C8F4AC5DEAE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C5B5E3E-9FA2-149A-811D-3D3ED4AAB5F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2BA5B3A7-7C96-0C1A-F253-49124A4A634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19190F-EC35-46C7-8793-B0DBFAD2737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1814765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0BD14-BDB5-47FF-BB9F-DAB204CE7C54}" type="datetimeFigureOut">
              <a:rPr lang="it-IT" smtClean="0"/>
              <a:t>07/07/2026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3DC2D-C769-4289-8541-4E021621338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51391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CA4EAAE-007A-4724-6AA9-B0F4193781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A285606-1DF4-9D43-B642-B0DDB1E59B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991C42F-5326-D9AC-132F-B3A0A119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064B38-5C57-41CF-96EA-41F97ED33238}" type="datetime1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2221F5-4B39-7165-C78F-C6B0F046B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FB65B95-D993-D7A8-4B20-7D139820D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72122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BB4E12E-9166-83E1-A13C-02AE12827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8E5BA4-EED6-6BFA-26C1-1A15C4902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53C3C14-EFE1-B8D1-9366-295DAFEEA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D611D4-AA50-496D-BEAB-5115E22942A8}" type="datetime1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078979-159E-9D4F-4A59-B2B2E8476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1BD55D17-E6EA-C7D3-9F96-17B828E40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05502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C7AAA73-077D-78FB-782C-82A8ADEDE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D9F31650-7FD4-6CC3-41C6-AC64F55A1A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55A280-C6FF-1BC6-8F70-3F49A3FCB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9107E-6F51-4F08-BDE7-587C81FEA62F}" type="datetime1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559C0F7-534F-8731-3F5B-62BE8DF8D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38B5F10-B955-DBA8-AE0C-4DC26A07F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8280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061CE1-6513-4B58-8B1B-FC8FDB47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361126C-84EB-587A-6B20-429FD73C9C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1254F00-D8BB-4050-9ECF-A7D33715AF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647DBCA-2B4D-E5A0-7828-29DBACF7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EE0334-D44E-42D7-83E4-2F4DB94A8F36}" type="datetime1">
              <a:rPr lang="it-IT" smtClean="0"/>
              <a:t>07/07/2026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7ECD389-75BF-EE93-77F7-F59BCF461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1465A2C-13B7-129E-9810-B324BD174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83729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BC362AA-DB9B-5D47-AA4A-393DB248DC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A44C0400-D9C0-F419-D425-7D526D6233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1847FD2-A66F-FC26-7D72-2BF4A1DF63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989FC0E-9537-20D3-841D-6838CDF701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6F53C94-8E05-55E7-D844-D83D1DFB8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E2EE61D8-D420-9F71-AB52-E531858B4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FB9B6F-A2E3-40F7-A2FB-C6071A21D2BE}" type="datetime1">
              <a:rPr lang="it-IT" smtClean="0"/>
              <a:t>07/07/2026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98D96AA9-844F-BE3D-3C86-C54D963F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BC3E8DD-4EDE-8A2D-B05E-21B527D30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51644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F93BA6D-D7C9-0718-EAFC-74461EC80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57696AA-691C-0A73-4B2A-D74B5CA2B7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87C40E-9246-4AB3-83F5-41A7EBBB1520}" type="datetime1">
              <a:rPr lang="it-IT" smtClean="0"/>
              <a:t>07/07/2026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E869B4F-1408-9CC9-E603-6FDD31817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39BB83D1-53D5-0AAD-314E-22790BB1E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90592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D65EA88-DB35-B7AC-9E47-8C9961E9C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2F9C4-C561-4DFD-9133-1771A1E46D86}" type="datetime1">
              <a:rPr lang="it-IT" smtClean="0"/>
              <a:t>07/07/2026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4F2F3E7-EB77-DDD2-9CDE-DC906BB3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965D30D-A911-7B50-6A7E-DE6541DB7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28986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D15EF7D-0D67-22D9-2B91-528F365E71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12D22F92-6D44-AE29-A0EE-B83FD6D29B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956A242-9616-49FA-FCD8-D3EACB5927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3CFBCB-856F-D8D7-A59E-C568FF1D12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C12D8-E69D-4C65-9E9B-28BA18AAA09C}" type="datetime1">
              <a:rPr lang="it-IT" smtClean="0"/>
              <a:t>07/07/2026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F1E23CF-9984-A7D5-06D0-8114BBA8B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5CEBB2C-55D1-FEE9-2927-C2FC865AB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9745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77094BA-B58B-7750-8ED7-996BB05A46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D22B5548-F126-0BAB-6E25-DE33A91035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918F459-EEAA-6E9D-B0C7-04F061EC31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AA10992-6793-ED22-C738-8FAEA1105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B79DF9-7E32-481D-A7DB-891B501499EF}" type="datetime1">
              <a:rPr lang="it-IT" smtClean="0"/>
              <a:t>07/07/2026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6228CE73-50F2-16FD-A277-EDB50F7D1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2A523E77-A7BA-FB8A-818B-B660851AD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621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2D77DEE-066D-0959-8661-77A8B09D4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8A44CA35-15D9-A0BB-E9C2-B3D76EA932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4BE311F-4268-37F1-5B75-E7A3E06D6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26622-262E-4D42-8F23-FA93A5F232F7}" type="datetime1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1441187-1315-49CD-2C50-500EE7378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49EA371-1C37-A3FF-25BE-EC2378D99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16148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5093073-7166-B330-900D-E0C40DFD11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95882118-748C-ECA2-1EF6-9E16ED5A98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68A4BA7-CB34-9D53-6B3B-67DDA4899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A5616-4AC6-401D-8846-A8D1DAEBDE17}" type="datetime1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E0B4554-E44D-EA0B-E8CD-1FB08A7F5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Anno Accademico 2025-2026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ACB62D-C4CC-30B3-003D-C8C00175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039869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9EEA4F1A-196E-098F-AB32-B93D383C6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06992FE-3BBE-A9B7-51AD-9A6D31469E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A37DD07-6F11-E0E0-28FF-9CF3662C4E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03481C1-DBAD-40DA-9251-9EF5F1F1076D}" type="datetime1">
              <a:rPr lang="it-IT" smtClean="0"/>
              <a:t>07/07/2026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45239EE-680C-B89B-986C-5E49A81F40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it-IT"/>
              <a:t>Anno Accademico 2025-2026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1E2278A-135C-F0EA-8EF7-D63624B3FC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CADFC1-4D5E-43AA-AA46-3B7564996145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049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13" Type="http://schemas.openxmlformats.org/officeDocument/2006/relationships/image" Target="../media/image32.png"/><Relationship Id="rId18" Type="http://schemas.openxmlformats.org/officeDocument/2006/relationships/image" Target="../media/image3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17" Type="http://schemas.openxmlformats.org/officeDocument/2006/relationships/image" Target="../media/image36.png"/><Relationship Id="rId2" Type="http://schemas.openxmlformats.org/officeDocument/2006/relationships/image" Target="../media/image2.png"/><Relationship Id="rId16" Type="http://schemas.openxmlformats.org/officeDocument/2006/relationships/image" Target="../media/image35.png"/><Relationship Id="rId20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5" Type="http://schemas.openxmlformats.org/officeDocument/2006/relationships/image" Target="../media/image34.png"/><Relationship Id="rId10" Type="http://schemas.openxmlformats.org/officeDocument/2006/relationships/image" Target="../media/image29.png"/><Relationship Id="rId19" Type="http://schemas.openxmlformats.org/officeDocument/2006/relationships/image" Target="../media/image38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Relationship Id="rId1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5A81A5D5-4A3F-A6E0-208A-32F0F3CB6D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25" t="5159" r="6483" b="9407"/>
          <a:stretch>
            <a:fillRect/>
          </a:stretch>
        </p:blipFill>
        <p:spPr>
          <a:xfrm>
            <a:off x="2768917" y="257556"/>
            <a:ext cx="6654166" cy="3303147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11777450-3B9F-1F40-31F0-E6E4E0249711}"/>
              </a:ext>
            </a:extLst>
          </p:cNvPr>
          <p:cNvSpPr txBox="1"/>
          <p:nvPr/>
        </p:nvSpPr>
        <p:spPr>
          <a:xfrm>
            <a:off x="1110883" y="5449824"/>
            <a:ext cx="12827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i="1" dirty="0">
                <a:latin typeface="Angsana New" panose="02020603050405020304" pitchFamily="18" charset="-34"/>
                <a:cs typeface="Angsana New" panose="02020603050405020304" pitchFamily="18" charset="-34"/>
              </a:rPr>
              <a:t>Candidato</a:t>
            </a:r>
          </a:p>
          <a:p>
            <a:pPr algn="ctr"/>
            <a:r>
              <a:rPr lang="it-IT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Fabio Meloni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5F33F7A-FA3F-AE1F-4054-30AA92D4BBE4}"/>
              </a:ext>
            </a:extLst>
          </p:cNvPr>
          <p:cNvSpPr txBox="1"/>
          <p:nvPr/>
        </p:nvSpPr>
        <p:spPr>
          <a:xfrm>
            <a:off x="8976053" y="5449823"/>
            <a:ext cx="210506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it-IT" sz="2400" i="1" dirty="0">
                <a:latin typeface="Angsana New" panose="02020603050405020304" pitchFamily="18" charset="-34"/>
                <a:cs typeface="Angsana New" panose="02020603050405020304" pitchFamily="18" charset="-34"/>
              </a:rPr>
              <a:t>Relatore</a:t>
            </a:r>
          </a:p>
          <a:p>
            <a:pPr algn="ctr"/>
            <a:r>
              <a:rPr lang="it-IT" sz="2400" dirty="0">
                <a:latin typeface="Angsana New" panose="02020603050405020304" pitchFamily="18" charset="-34"/>
                <a:cs typeface="Angsana New" panose="02020603050405020304" pitchFamily="18" charset="-34"/>
              </a:rPr>
              <a:t>Prof. Vincenzo Bonnici</a:t>
            </a: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25F5FE74-FCD3-E4CF-9926-E8E5B4AFBD28}"/>
              </a:ext>
            </a:extLst>
          </p:cNvPr>
          <p:cNvSpPr txBox="1"/>
          <p:nvPr/>
        </p:nvSpPr>
        <p:spPr>
          <a:xfrm>
            <a:off x="580708" y="4243653"/>
            <a:ext cx="1103058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800" b="1" dirty="0">
                <a:latin typeface="Arial Narrow" panose="020B0606020202030204" pitchFamily="34" charset="0"/>
              </a:rPr>
              <a:t>Un workflow LLM per la creazione interattiva di basi di dati: modulo </a:t>
            </a:r>
            <a:r>
              <a:rPr lang="it-IT" sz="2800" b="1" dirty="0" err="1">
                <a:latin typeface="Arial Narrow" panose="020B0606020202030204" pitchFamily="34" charset="0"/>
              </a:rPr>
              <a:t>converter</a:t>
            </a:r>
            <a:endParaRPr lang="it-IT" sz="2800" b="1" dirty="0">
              <a:latin typeface="Arial Narrow" panose="020B0606020202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7447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794AB-96D5-5F98-D163-B23E36D6A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093EE4D0-6092-A3BF-DADA-9DF86D0F2567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A71037D-ED68-091F-65AA-D4E70175A85C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Introduzione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CE70E45-4500-F84C-7F7A-278B18A35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4ECE28EF-251C-A5E5-5E5C-F9421B1370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C0B45A91-33CF-C960-AC00-AD26C8F9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2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4D5E62A-C31D-A63A-B58E-FDB369466DE3}"/>
              </a:ext>
            </a:extLst>
          </p:cNvPr>
          <p:cNvSpPr txBox="1"/>
          <p:nvPr/>
        </p:nvSpPr>
        <p:spPr>
          <a:xfrm>
            <a:off x="0" y="1115430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Quali problemi presenta il salvare i dati in un foglio di calcolo?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C95C6EE-B630-DDF4-D625-6164ADFE9DAF}"/>
              </a:ext>
            </a:extLst>
          </p:cNvPr>
          <p:cNvSpPr txBox="1"/>
          <p:nvPr/>
        </p:nvSpPr>
        <p:spPr>
          <a:xfrm>
            <a:off x="104774" y="1604341"/>
            <a:ext cx="567360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1) Difficile garantire integrità referenziale dei dati;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7746EC7-6270-A74F-2EE2-C4BC724EBF58}"/>
              </a:ext>
            </a:extLst>
          </p:cNvPr>
          <p:cNvSpPr txBox="1"/>
          <p:nvPr/>
        </p:nvSpPr>
        <p:spPr>
          <a:xfrm>
            <a:off x="103877" y="1973673"/>
            <a:ext cx="554621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2) Nessun audit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trail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per registrare le modifiche;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6D2A458-E4C7-09B3-595F-FC1A9D8BAB5A}"/>
              </a:ext>
            </a:extLst>
          </p:cNvPr>
          <p:cNvSpPr txBox="1"/>
          <p:nvPr/>
        </p:nvSpPr>
        <p:spPr>
          <a:xfrm>
            <a:off x="103876" y="2348363"/>
            <a:ext cx="645314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3) Scarsa scalabilità in caso di dataset di grandi dimensioni;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46A73EF-CBC8-DD77-6793-F767A0FFD543}"/>
              </a:ext>
            </a:extLst>
          </p:cNvPr>
          <p:cNvSpPr txBox="1"/>
          <p:nvPr/>
        </p:nvSpPr>
        <p:spPr>
          <a:xfrm>
            <a:off x="103875" y="2723053"/>
            <a:ext cx="5367823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4) Sicurezza e controllo degli accessi insufficienti;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223771A-6947-A4BF-A460-4650A5614D4D}"/>
              </a:ext>
            </a:extLst>
          </p:cNvPr>
          <p:cNvSpPr txBox="1"/>
          <p:nvPr/>
        </p:nvSpPr>
        <p:spPr>
          <a:xfrm>
            <a:off x="102978" y="3096129"/>
            <a:ext cx="621374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5) Prestazioni limitate in fase di analisi e filtraggio dei dati.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3A1D31F-C077-4A09-8B98-D15A89EC4F86}"/>
              </a:ext>
            </a:extLst>
          </p:cNvPr>
          <p:cNvSpPr txBox="1"/>
          <p:nvPr/>
        </p:nvSpPr>
        <p:spPr>
          <a:xfrm>
            <a:off x="0" y="3991963"/>
            <a:ext cx="14538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Soluzioni</a:t>
            </a:r>
            <a:r>
              <a:rPr lang="it-IT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?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064F0586-F026-369B-7070-B44DD318B02A}"/>
              </a:ext>
            </a:extLst>
          </p:cNvPr>
          <p:cNvSpPr txBox="1"/>
          <p:nvPr/>
        </p:nvSpPr>
        <p:spPr>
          <a:xfrm>
            <a:off x="102978" y="4481806"/>
            <a:ext cx="1219200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Realizzare un software che permetta di convertire i fogli di calcolo (dati semi-strutturati) in database (dati strutturati)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9E13203E-222F-6318-3E2F-53DE3FDBC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090744"/>
            <a:ext cx="12192000" cy="1229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51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12" grpId="0"/>
      <p:bldP spid="14" grpId="0"/>
      <p:bldP spid="1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E755A-765E-8D23-445D-B565738BEE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0E224E88-4730-50EE-ED50-339749070729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5D7DC49B-1E33-21A3-D80A-8A968D54E356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Nozioni di Base - Frontend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A5ACDD7E-782B-FB10-38E5-CD1DCE583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2D4799BC-E496-CBEF-1741-0E4F218B6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9C568B3E-5E79-1DDA-C858-295548F3D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3</a:t>
            </a:fld>
            <a:endParaRPr lang="it-IT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97E08EC7-8D72-4691-33A0-468C03A33618}"/>
              </a:ext>
            </a:extLst>
          </p:cNvPr>
          <p:cNvSpPr txBox="1"/>
          <p:nvPr/>
        </p:nvSpPr>
        <p:spPr>
          <a:xfrm>
            <a:off x="0" y="1115430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Design Pattern MVP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0AD8E27B-1D61-1A44-873A-D6CC2A01A074}"/>
              </a:ext>
            </a:extLst>
          </p:cNvPr>
          <p:cNvSpPr txBox="1"/>
          <p:nvPr/>
        </p:nvSpPr>
        <p:spPr>
          <a:xfrm>
            <a:off x="104774" y="1604341"/>
            <a:ext cx="401002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Separazione Model-View-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Presenter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76A6EF81-FBD8-961F-E3F7-F9AD666864FF}"/>
              </a:ext>
            </a:extLst>
          </p:cNvPr>
          <p:cNvSpPr txBox="1"/>
          <p:nvPr/>
        </p:nvSpPr>
        <p:spPr>
          <a:xfrm>
            <a:off x="103877" y="1973673"/>
            <a:ext cx="40840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View passiva e logica nel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Presenter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B496DEF1-3556-A559-06BC-C66EA0F71135}"/>
              </a:ext>
            </a:extLst>
          </p:cNvPr>
          <p:cNvSpPr txBox="1"/>
          <p:nvPr/>
        </p:nvSpPr>
        <p:spPr>
          <a:xfrm>
            <a:off x="103876" y="2348363"/>
            <a:ext cx="384633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Maggiore testabilità e modularità.</a:t>
            </a:r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E1610ACE-727E-C7B2-0968-995DFCE27E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952" y="1698206"/>
            <a:ext cx="7829550" cy="904875"/>
          </a:xfrm>
          <a:prstGeom prst="rect">
            <a:avLst/>
          </a:prstGeom>
        </p:spPr>
      </p:pic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138C211D-E966-3697-6910-F4F41C864C0A}"/>
              </a:ext>
            </a:extLst>
          </p:cNvPr>
          <p:cNvSpPr txBox="1"/>
          <p:nvPr/>
        </p:nvSpPr>
        <p:spPr>
          <a:xfrm>
            <a:off x="0" y="1115430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Highlight.js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D3D45C4-FFF3-3702-F883-25603478FEB6}"/>
              </a:ext>
            </a:extLst>
          </p:cNvPr>
          <p:cNvSpPr txBox="1"/>
          <p:nvPr/>
        </p:nvSpPr>
        <p:spPr>
          <a:xfrm>
            <a:off x="103876" y="1575949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Regex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ottimizzate per l’evidenziazione automatica della sintassi.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59F1B10-840B-9BB8-4076-AA717EAAA70A}"/>
              </a:ext>
            </a:extLst>
          </p:cNvPr>
          <p:cNvSpPr txBox="1"/>
          <p:nvPr/>
        </p:nvSpPr>
        <p:spPr>
          <a:xfrm>
            <a:off x="0" y="1113429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SheetJS</a:t>
            </a:r>
            <a:endParaRPr lang="it-IT" sz="2000" b="1" dirty="0">
              <a:solidFill>
                <a:schemeClr val="accent4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C8E403CF-5C07-72D1-D340-D274C024D142}"/>
              </a:ext>
            </a:extLst>
          </p:cNvPr>
          <p:cNvSpPr txBox="1"/>
          <p:nvPr/>
        </p:nvSpPr>
        <p:spPr>
          <a:xfrm>
            <a:off x="103876" y="1600749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Gestione file Excel/CSV;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B6ADAE67-08DD-06EC-A9A4-2631470DDB8E}"/>
              </a:ext>
            </a:extLst>
          </p:cNvPr>
          <p:cNvSpPr txBox="1"/>
          <p:nvPr/>
        </p:nvSpPr>
        <p:spPr>
          <a:xfrm>
            <a:off x="103877" y="1962855"/>
            <a:ext cx="40840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Conversione dati in fogli di calcolo.</a:t>
            </a:r>
          </a:p>
        </p:txBody>
      </p:sp>
    </p:spTree>
    <p:extLst>
      <p:ext uri="{BB962C8B-B14F-4D97-AF65-F5344CB8AC3E}">
        <p14:creationId xmlns:p14="http://schemas.microsoft.com/office/powerpoint/2010/main" val="39598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  <p:bldP spid="10" grpId="0"/>
      <p:bldP spid="10" grpId="1"/>
      <p:bldP spid="12" grpId="0"/>
      <p:bldP spid="12" grpId="1"/>
      <p:bldP spid="18" grpId="0"/>
      <p:bldP spid="18" grpId="1"/>
      <p:bldP spid="22" grpId="0"/>
      <p:bldP spid="22" grpId="1"/>
      <p:bldP spid="24" grpId="0"/>
      <p:bldP spid="24" grpId="1"/>
      <p:bldP spid="26" grpId="0"/>
      <p:bldP spid="26" grpId="1"/>
      <p:bldP spid="28" grpId="0"/>
      <p:bldP spid="28" grpId="1"/>
      <p:bldP spid="30" grpId="0"/>
      <p:bldP spid="3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5AB3B-4331-DD88-95B5-15129704F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923963CC-5FCC-3FEF-964C-0BB00C5DED0A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FCB20F8-8F79-BCC0-AF14-3DD0400645D0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Nozioni di Base - Backend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D7F506A-7C92-A56C-A88F-BC2FC7F23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B222C104-E776-88BB-F3D3-AB775CB83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75F9B36E-3BE9-E035-3627-8C5E3E8D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4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C24760B-0842-1362-76F7-D405B772B8E4}"/>
              </a:ext>
            </a:extLst>
          </p:cNvPr>
          <p:cNvSpPr txBox="1"/>
          <p:nvPr/>
        </p:nvSpPr>
        <p:spPr>
          <a:xfrm>
            <a:off x="0" y="1115430"/>
            <a:ext cx="355701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Architettura Client-Server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7A3D4283-551C-3577-46E1-C8AEC6D4266D}"/>
              </a:ext>
            </a:extLst>
          </p:cNvPr>
          <p:cNvSpPr txBox="1"/>
          <p:nvPr/>
        </p:nvSpPr>
        <p:spPr>
          <a:xfrm>
            <a:off x="104774" y="1604341"/>
            <a:ext cx="567360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API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restFul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5F5E4FF0-B621-0596-66C5-E69E84E9A6F1}"/>
              </a:ext>
            </a:extLst>
          </p:cNvPr>
          <p:cNvSpPr txBox="1"/>
          <p:nvPr/>
        </p:nvSpPr>
        <p:spPr>
          <a:xfrm>
            <a:off x="103877" y="1973673"/>
            <a:ext cx="40840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Separazione delle responsabilità.</a:t>
            </a: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AA2DF9C1-9C21-FCEC-7A63-C0E46469BF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3421" y="1307478"/>
            <a:ext cx="7511795" cy="1990758"/>
          </a:xfrm>
          <a:prstGeom prst="rect">
            <a:avLst/>
          </a:prstGeom>
        </p:spPr>
      </p:pic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EA48F1D-9049-DF16-6978-759A45F23E8A}"/>
              </a:ext>
            </a:extLst>
          </p:cNvPr>
          <p:cNvSpPr txBox="1"/>
          <p:nvPr/>
        </p:nvSpPr>
        <p:spPr>
          <a:xfrm>
            <a:off x="0" y="1114112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Chunked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Transfer </a:t>
            </a:r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Encoding</a:t>
            </a:r>
            <a:endParaRPr lang="it-IT" sz="2000" b="1" dirty="0">
              <a:solidFill>
                <a:schemeClr val="accent4">
                  <a:lumMod val="50000"/>
                </a:schemeClr>
              </a:solidFill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3366FEF-3393-7BC0-00EB-585B50DDC724}"/>
              </a:ext>
            </a:extLst>
          </p:cNvPr>
          <p:cNvSpPr txBox="1"/>
          <p:nvPr/>
        </p:nvSpPr>
        <p:spPr>
          <a:xfrm>
            <a:off x="103876" y="1574631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Streaming dei dati senza Content-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Length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7A6CA59F-FBAE-8996-2605-16B6658C390E}"/>
              </a:ext>
            </a:extLst>
          </p:cNvPr>
          <p:cNvSpPr txBox="1"/>
          <p:nvPr/>
        </p:nvSpPr>
        <p:spPr>
          <a:xfrm>
            <a:off x="103876" y="1988983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Utile per token streaming LLM.</a:t>
            </a:r>
          </a:p>
        </p:txBody>
      </p:sp>
      <p:pic>
        <p:nvPicPr>
          <p:cNvPr id="24" name="Immagine 23">
            <a:extLst>
              <a:ext uri="{FF2B5EF4-FFF2-40B4-BE49-F238E27FC236}">
                <a16:creationId xmlns:a16="http://schemas.microsoft.com/office/drawing/2014/main" id="{175D2DB6-6D6E-CDF2-4DEB-86333841D0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845" y="1390847"/>
            <a:ext cx="5500052" cy="4125039"/>
          </a:xfrm>
          <a:prstGeom prst="rect">
            <a:avLst/>
          </a:prstGeom>
        </p:spPr>
      </p:pic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013DD3C1-DDAE-E1A8-9EC8-4E207DC0487F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Backend LLM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2AC4931D-5E3E-6C5E-802F-A1E405B3017D}"/>
              </a:ext>
            </a:extLst>
          </p:cNvPr>
          <p:cNvSpPr txBox="1"/>
          <p:nvPr/>
        </p:nvSpPr>
        <p:spPr>
          <a:xfrm>
            <a:off x="103876" y="1586096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Ollama per inferenza locale;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6D90EFE0-EC19-041E-2AF1-A3D4326DF055}"/>
              </a:ext>
            </a:extLst>
          </p:cNvPr>
          <p:cNvSpPr txBox="1"/>
          <p:nvPr/>
        </p:nvSpPr>
        <p:spPr>
          <a:xfrm>
            <a:off x="103876" y="1953278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Pattern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Agentic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per l’orchestrazione;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5A40576E-DC38-75AE-409A-0B52B4E6E304}"/>
              </a:ext>
            </a:extLst>
          </p:cNvPr>
          <p:cNvSpPr txBox="1"/>
          <p:nvPr/>
        </p:nvSpPr>
        <p:spPr>
          <a:xfrm>
            <a:off x="103876" y="2371599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Modello Qwen2.5-Coder-7B-Instruct.</a:t>
            </a:r>
          </a:p>
        </p:txBody>
      </p:sp>
      <p:pic>
        <p:nvPicPr>
          <p:cNvPr id="34" name="Immagine 33">
            <a:extLst>
              <a:ext uri="{FF2B5EF4-FFF2-40B4-BE49-F238E27FC236}">
                <a16:creationId xmlns:a16="http://schemas.microsoft.com/office/drawing/2014/main" id="{06A90978-5A80-AECA-0582-CCBAF5EE26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0349" y="1384599"/>
            <a:ext cx="6716114" cy="1190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597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6" grpId="0"/>
      <p:bldP spid="6" grpId="1"/>
      <p:bldP spid="12" grpId="0"/>
      <p:bldP spid="12" grpId="1"/>
      <p:bldP spid="18" grpId="0"/>
      <p:bldP spid="18" grpId="1"/>
      <p:bldP spid="20" grpId="0"/>
      <p:bldP spid="20" grpId="1"/>
      <p:bldP spid="22" grpId="0"/>
      <p:bldP spid="22" grpId="1"/>
      <p:bldP spid="26" grpId="0"/>
      <p:bldP spid="26" grpId="1"/>
      <p:bldP spid="28" grpId="0"/>
      <p:bldP spid="28" grpId="1"/>
      <p:bldP spid="30" grpId="0"/>
      <p:bldP spid="30" grpId="1"/>
      <p:bldP spid="32" grpId="0"/>
      <p:bldP spid="3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A043F0-3B62-5604-9C24-204D7567C1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Immagine 42">
            <a:extLst>
              <a:ext uri="{FF2B5EF4-FFF2-40B4-BE49-F238E27FC236}">
                <a16:creationId xmlns:a16="http://schemas.microsoft.com/office/drawing/2014/main" id="{0DE0B99F-7F70-1802-D8B2-29D0CAC2735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603" t="11512" r="-134"/>
          <a:stretch>
            <a:fillRect/>
          </a:stretch>
        </p:blipFill>
        <p:spPr>
          <a:xfrm>
            <a:off x="5274672" y="1536568"/>
            <a:ext cx="7429199" cy="4385135"/>
          </a:xfrm>
          <a:prstGeom prst="rect">
            <a:avLst/>
          </a:prstGeom>
        </p:spPr>
      </p:pic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CCAF4665-835D-8068-BF9B-A1E59140D9F6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2ED304D-FC17-4AB5-8034-44ED2E20FF52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Stato dell’Arte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DDD0CB2F-1C00-750C-1376-47C7AE591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15C7EB57-AED9-B3D2-EDC0-E1603ED5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CC7E60A4-D03C-D336-9DE0-52E68F7D1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5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7E398F4-ED48-B80B-956F-D965CE6F6A46}"/>
              </a:ext>
            </a:extLst>
          </p:cNvPr>
          <p:cNvSpPr txBox="1"/>
          <p:nvPr/>
        </p:nvSpPr>
        <p:spPr>
          <a:xfrm>
            <a:off x="0" y="1115430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Quali categorie di strumenti esistono?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BF7541D6-57FB-43B9-5780-5C135F32A7B4}"/>
              </a:ext>
            </a:extLst>
          </p:cNvPr>
          <p:cNvSpPr txBox="1"/>
          <p:nvPr/>
        </p:nvSpPr>
        <p:spPr>
          <a:xfrm>
            <a:off x="104774" y="1604341"/>
            <a:ext cx="567360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Convertitori Excel-to-SQL;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41314A6-9CFD-CD82-BD8D-FE9BE91B78E5}"/>
              </a:ext>
            </a:extLst>
          </p:cNvPr>
          <p:cNvSpPr txBox="1"/>
          <p:nvPr/>
        </p:nvSpPr>
        <p:spPr>
          <a:xfrm>
            <a:off x="103876" y="1973673"/>
            <a:ext cx="58031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LIMS (</a:t>
            </a:r>
            <a:r>
              <a:rPr lang="it-IT" b="1" dirty="0"/>
              <a:t>Laboratory Information Management System);</a:t>
            </a:r>
            <a:endParaRPr lang="it-IT" sz="17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6BC1527-1A6B-31B4-758A-3799DC0F9527}"/>
              </a:ext>
            </a:extLst>
          </p:cNvPr>
          <p:cNvSpPr txBox="1"/>
          <p:nvPr/>
        </p:nvSpPr>
        <p:spPr>
          <a:xfrm>
            <a:off x="103876" y="2348363"/>
            <a:ext cx="645314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ELN (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Eletronic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Lab Notebook);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C876C2B-919E-6D55-D331-6E6B53EEF134}"/>
              </a:ext>
            </a:extLst>
          </p:cNvPr>
          <p:cNvSpPr txBox="1"/>
          <p:nvPr/>
        </p:nvSpPr>
        <p:spPr>
          <a:xfrm>
            <a:off x="103876" y="2702306"/>
            <a:ext cx="645314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GMOD.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AC4548E2-ED67-0CD2-D531-019845C5B0A9}"/>
              </a:ext>
            </a:extLst>
          </p:cNvPr>
          <p:cNvSpPr txBox="1"/>
          <p:nvPr/>
        </p:nvSpPr>
        <p:spPr>
          <a:xfrm>
            <a:off x="-3336" y="1112468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Convertitori Excel-to-SQL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82ECFA98-DA00-EDB8-6C19-1554B486B241}"/>
              </a:ext>
            </a:extLst>
          </p:cNvPr>
          <p:cNvSpPr txBox="1"/>
          <p:nvPr/>
        </p:nvSpPr>
        <p:spPr>
          <a:xfrm>
            <a:off x="101438" y="1601379"/>
            <a:ext cx="567360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Conversione sintattica fogli di calcolo -&gt; SQL;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6C91DFE3-1F4C-215B-797E-70365572749D}"/>
              </a:ext>
            </a:extLst>
          </p:cNvPr>
          <p:cNvSpPr txBox="1"/>
          <p:nvPr/>
        </p:nvSpPr>
        <p:spPr>
          <a:xfrm>
            <a:off x="100540" y="1970711"/>
            <a:ext cx="58031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Nessuna comprensione semantica;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FB6317C-8B50-4CB1-96F9-F059EE6ADD34}"/>
              </a:ext>
            </a:extLst>
          </p:cNvPr>
          <p:cNvSpPr txBox="1"/>
          <p:nvPr/>
        </p:nvSpPr>
        <p:spPr>
          <a:xfrm>
            <a:off x="100540" y="2345401"/>
            <a:ext cx="645314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Nessuna normalizzazione.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EE206A7-200F-37BF-93E6-8ECD99369B0E}"/>
              </a:ext>
            </a:extLst>
          </p:cNvPr>
          <p:cNvSpPr txBox="1"/>
          <p:nvPr/>
        </p:nvSpPr>
        <p:spPr>
          <a:xfrm>
            <a:off x="-2104" y="1112855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LIMS (</a:t>
            </a:r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Senaite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78448AA-FAAA-AB2A-2D8D-24FFE9F7D9C6}"/>
              </a:ext>
            </a:extLst>
          </p:cNvPr>
          <p:cNvSpPr txBox="1"/>
          <p:nvPr/>
        </p:nvSpPr>
        <p:spPr>
          <a:xfrm>
            <a:off x="102670" y="1601766"/>
            <a:ext cx="567360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Gestione completa del ciclo del campione;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B7F995B9-6C89-A4F7-EDEF-9328CEEAABC0}"/>
              </a:ext>
            </a:extLst>
          </p:cNvPr>
          <p:cNvSpPr txBox="1"/>
          <p:nvPr/>
        </p:nvSpPr>
        <p:spPr>
          <a:xfrm>
            <a:off x="101772" y="1971098"/>
            <a:ext cx="58031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Audit </a:t>
            </a:r>
            <a:r>
              <a:rPr lang="it-IT" sz="1700" b="1" dirty="0" err="1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trail</a:t>
            </a:r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7A46DA5-2B99-B1FC-A8EB-5076F8BD8F41}"/>
              </a:ext>
            </a:extLst>
          </p:cNvPr>
          <p:cNvSpPr txBox="1"/>
          <p:nvPr/>
        </p:nvSpPr>
        <p:spPr>
          <a:xfrm>
            <a:off x="101772" y="2345786"/>
            <a:ext cx="645314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Funzionalità di gestione avanzate.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855A1402-AF4E-AC8A-11E3-464CACBF670F}"/>
              </a:ext>
            </a:extLst>
          </p:cNvPr>
          <p:cNvSpPr txBox="1"/>
          <p:nvPr/>
        </p:nvSpPr>
        <p:spPr>
          <a:xfrm>
            <a:off x="103875" y="2888515"/>
            <a:ext cx="547679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Complesso adattamento processi di utilizzo con fogli di calcolo.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820F370F-565B-03E8-FA3F-0CD616D7A547}"/>
              </a:ext>
            </a:extLst>
          </p:cNvPr>
          <p:cNvSpPr txBox="1"/>
          <p:nvPr/>
        </p:nvSpPr>
        <p:spPr>
          <a:xfrm>
            <a:off x="6096" y="1112383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ELN (</a:t>
            </a:r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SciNote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)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F47A8F1B-F1CD-8DE3-96B7-3544CCB31FF0}"/>
              </a:ext>
            </a:extLst>
          </p:cNvPr>
          <p:cNvSpPr txBox="1"/>
          <p:nvPr/>
        </p:nvSpPr>
        <p:spPr>
          <a:xfrm>
            <a:off x="110870" y="1601294"/>
            <a:ext cx="567360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Documentazione esperimenti;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42296BB4-053E-70BE-D839-6CD96744D372}"/>
              </a:ext>
            </a:extLst>
          </p:cNvPr>
          <p:cNvSpPr txBox="1"/>
          <p:nvPr/>
        </p:nvSpPr>
        <p:spPr>
          <a:xfrm>
            <a:off x="109972" y="1970626"/>
            <a:ext cx="58031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File Manager;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A793864-E6D1-E816-5A2B-7A5AC9EE0E99}"/>
              </a:ext>
            </a:extLst>
          </p:cNvPr>
          <p:cNvSpPr txBox="1"/>
          <p:nvPr/>
        </p:nvSpPr>
        <p:spPr>
          <a:xfrm>
            <a:off x="109972" y="2308736"/>
            <a:ext cx="580525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Complessa migrazione da dati non/semi-strutturati a dati strutturati;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BA6ADE8-9148-F94B-3633-F8CBF1BF174F}"/>
              </a:ext>
            </a:extLst>
          </p:cNvPr>
          <p:cNvSpPr txBox="1"/>
          <p:nvPr/>
        </p:nvSpPr>
        <p:spPr>
          <a:xfrm>
            <a:off x="6096" y="111719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GMOD (Chado, Tripal, </a:t>
            </a:r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Jbrowse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, Apollo)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FF6ECCE7-9C87-41F1-42A8-1B2728B8EFDF}"/>
              </a:ext>
            </a:extLst>
          </p:cNvPr>
          <p:cNvSpPr txBox="1"/>
          <p:nvPr/>
        </p:nvSpPr>
        <p:spPr>
          <a:xfrm>
            <a:off x="110870" y="1606105"/>
            <a:ext cx="693915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Ecosistema di software per gestione di dati biologici complessi;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37D97499-6699-B8B0-F589-187FF7424CB8}"/>
              </a:ext>
            </a:extLst>
          </p:cNvPr>
          <p:cNvSpPr txBox="1"/>
          <p:nvPr/>
        </p:nvSpPr>
        <p:spPr>
          <a:xfrm>
            <a:off x="109972" y="1975437"/>
            <a:ext cx="58031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Richiede dati già strutturati;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98F4CA59-7E1A-D29B-E990-2BA7391F1523}"/>
              </a:ext>
            </a:extLst>
          </p:cNvPr>
          <p:cNvSpPr txBox="1"/>
          <p:nvPr/>
        </p:nvSpPr>
        <p:spPr>
          <a:xfrm>
            <a:off x="109972" y="2349339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Impossibilità di importare dati utilizzando un LLM;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C4B77802-4CB2-FDD2-F082-F8BC1E1AFD3C}"/>
              </a:ext>
            </a:extLst>
          </p:cNvPr>
          <p:cNvSpPr txBox="1"/>
          <p:nvPr/>
        </p:nvSpPr>
        <p:spPr>
          <a:xfrm>
            <a:off x="109972" y="2703132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Richieste competenze avanzate per la gestione.</a:t>
            </a:r>
          </a:p>
        </p:txBody>
      </p:sp>
      <p:pic>
        <p:nvPicPr>
          <p:cNvPr id="34" name="Immagine 33" descr="Import Excel Data To Database Using PHP | Excel, Data, Sql">
            <a:extLst>
              <a:ext uri="{FF2B5EF4-FFF2-40B4-BE49-F238E27FC236}">
                <a16:creationId xmlns:a16="http://schemas.microsoft.com/office/drawing/2014/main" id="{FE590C10-9437-ED8A-6B8A-A8453C36EC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5968" r="1525" b="19863"/>
          <a:stretch>
            <a:fillRect/>
          </a:stretch>
        </p:blipFill>
        <p:spPr>
          <a:xfrm>
            <a:off x="7397496" y="1521636"/>
            <a:ext cx="4233672" cy="2145108"/>
          </a:xfrm>
          <a:prstGeom prst="rect">
            <a:avLst/>
          </a:prstGeom>
        </p:spPr>
      </p:pic>
      <p:pic>
        <p:nvPicPr>
          <p:cNvPr id="35" name="Immagine 34" descr="Senaite: An Open-source Enterprise-grade Laboratory Information ...">
            <a:extLst>
              <a:ext uri="{FF2B5EF4-FFF2-40B4-BE49-F238E27FC236}">
                <a16:creationId xmlns:a16="http://schemas.microsoft.com/office/drawing/2014/main" id="{536F0B01-F365-D55D-536B-3ED4D2C82A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5656" y="936297"/>
            <a:ext cx="7581055" cy="6031643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7374036D-CB72-5C4C-B594-07DAED4910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59495" y="1425936"/>
            <a:ext cx="3174603" cy="2336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6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8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  <p:bldP spid="6" grpId="0"/>
      <p:bldP spid="6" grpId="1"/>
      <p:bldP spid="10" grpId="0"/>
      <p:bldP spid="10" grpId="1"/>
      <p:bldP spid="11" grpId="0"/>
      <p:bldP spid="11" grpId="1"/>
      <p:bldP spid="12" grpId="0"/>
      <p:bldP spid="12" grpId="1"/>
      <p:bldP spid="13" grpId="0"/>
      <p:bldP spid="13" grpId="1"/>
      <p:bldP spid="14" grpId="0"/>
      <p:bldP spid="14" grpId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8" grpId="0"/>
      <p:bldP spid="28" grpId="1"/>
      <p:bldP spid="29" grpId="0"/>
      <p:bldP spid="29" grpId="1"/>
      <p:bldP spid="30" grpId="0" build="allAtOnce"/>
      <p:bldP spid="31" grpId="0"/>
      <p:bldP spid="31" grpId="1"/>
      <p:bldP spid="32" grpId="0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89BAE-B013-20BA-F1D9-2154A8340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81692906-3362-4012-AEAB-0395A4CD7775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ED76654F-9C18-7AAA-5BBC-8FC84DDA6EF2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Stato dell’Arte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1A52E61-2E14-FD00-2623-D4B56585F8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055958B7-E423-61CC-8517-269734577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365BD28E-CD08-F9FC-FCCD-6E053A9EA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6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BD92717-C58E-05AB-E8ED-BB2D99AE8DC6}"/>
              </a:ext>
            </a:extLst>
          </p:cNvPr>
          <p:cNvSpPr txBox="1"/>
          <p:nvPr/>
        </p:nvSpPr>
        <p:spPr>
          <a:xfrm>
            <a:off x="6096" y="111719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bioCMS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vs Excel-to-SQL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4CC8BB12-4279-0688-46F2-F2322828C0EE}"/>
              </a:ext>
            </a:extLst>
          </p:cNvPr>
          <p:cNvSpPr txBox="1"/>
          <p:nvPr/>
        </p:nvSpPr>
        <p:spPr>
          <a:xfrm>
            <a:off x="110870" y="1606105"/>
            <a:ext cx="693915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Comprensione semantica mediante LLM;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9936206C-A425-221C-647F-0C8554ED4645}"/>
              </a:ext>
            </a:extLst>
          </p:cNvPr>
          <p:cNvSpPr txBox="1"/>
          <p:nvPr/>
        </p:nvSpPr>
        <p:spPr>
          <a:xfrm>
            <a:off x="109972" y="1975437"/>
            <a:ext cx="58031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Generazione automatica di schemi SQL in 3FN;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C61A54-8FF1-6978-11EF-152F23DE9755}"/>
              </a:ext>
            </a:extLst>
          </p:cNvPr>
          <p:cNvSpPr txBox="1"/>
          <p:nvPr/>
        </p:nvSpPr>
        <p:spPr>
          <a:xfrm>
            <a:off x="109972" y="2350127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Gestione Utenti;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E89FE51-1E3B-6D30-8B4C-F2B627FE1254}"/>
              </a:ext>
            </a:extLst>
          </p:cNvPr>
          <p:cNvSpPr txBox="1"/>
          <p:nvPr/>
        </p:nvSpPr>
        <p:spPr>
          <a:xfrm>
            <a:off x="103875" y="2704070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Audit </a:t>
            </a:r>
            <a:r>
              <a:rPr lang="it-IT" sz="1700" b="1" dirty="0" err="1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trail</a:t>
            </a:r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.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630BCD3-B012-AAA4-2D64-433C9061080D}"/>
              </a:ext>
            </a:extLst>
          </p:cNvPr>
          <p:cNvSpPr txBox="1"/>
          <p:nvPr/>
        </p:nvSpPr>
        <p:spPr>
          <a:xfrm>
            <a:off x="3048" y="1114146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bioCMS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vs LIMS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F32D0C1-F122-10A7-9E5C-9C522BF971C4}"/>
              </a:ext>
            </a:extLst>
          </p:cNvPr>
          <p:cNvSpPr txBox="1"/>
          <p:nvPr/>
        </p:nvSpPr>
        <p:spPr>
          <a:xfrm>
            <a:off x="107821" y="1603057"/>
            <a:ext cx="730796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Soluzione più semplice con meno funzionalità avanzate inutilizzate;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0346829-101C-65CF-BDB3-AC332B2FFA5E}"/>
              </a:ext>
            </a:extLst>
          </p:cNvPr>
          <p:cNvSpPr txBox="1"/>
          <p:nvPr/>
        </p:nvSpPr>
        <p:spPr>
          <a:xfrm>
            <a:off x="106924" y="1972389"/>
            <a:ext cx="842442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Focalizzazione sulla conversione da dati non/semi-strutturati in dati strutturati;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790C2B5-00CF-1BA1-2B9F-E51E76B78618}"/>
              </a:ext>
            </a:extLst>
          </p:cNvPr>
          <p:cNvSpPr txBox="1"/>
          <p:nvPr/>
        </p:nvSpPr>
        <p:spPr>
          <a:xfrm>
            <a:off x="106924" y="2347079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Mancanza di workflow automatici sui dati importati.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AC1289A1-802F-26F6-4587-69B3627174D8}"/>
              </a:ext>
            </a:extLst>
          </p:cNvPr>
          <p:cNvSpPr txBox="1"/>
          <p:nvPr/>
        </p:nvSpPr>
        <p:spPr>
          <a:xfrm>
            <a:off x="3048" y="1123290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bioCMS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vs ELN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39826065-170A-56CB-5D89-D0B8970AA9D8}"/>
              </a:ext>
            </a:extLst>
          </p:cNvPr>
          <p:cNvSpPr txBox="1"/>
          <p:nvPr/>
        </p:nvSpPr>
        <p:spPr>
          <a:xfrm>
            <a:off x="107822" y="1612201"/>
            <a:ext cx="750913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Conversione completa dei dati non/semi-strutturati in dati strutturati;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B9B6BA92-5F91-C309-8E6A-699BCC811528}"/>
              </a:ext>
            </a:extLst>
          </p:cNvPr>
          <p:cNvSpPr txBox="1"/>
          <p:nvPr/>
        </p:nvSpPr>
        <p:spPr>
          <a:xfrm>
            <a:off x="106924" y="1981533"/>
            <a:ext cx="58031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Mancanza di funzionalità avanzata di gestione file;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C873AC42-8138-4D22-840A-3C39066497B5}"/>
              </a:ext>
            </a:extLst>
          </p:cNvPr>
          <p:cNvSpPr txBox="1"/>
          <p:nvPr/>
        </p:nvSpPr>
        <p:spPr>
          <a:xfrm>
            <a:off x="106924" y="2356223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rgbClr val="FF0000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Mancanza della documentazione degli esperimenti.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6EE64D94-916E-C17D-CFBE-9E929C3BCF6D}"/>
              </a:ext>
            </a:extLst>
          </p:cNvPr>
          <p:cNvSpPr txBox="1"/>
          <p:nvPr/>
        </p:nvSpPr>
        <p:spPr>
          <a:xfrm>
            <a:off x="3048" y="1114146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 err="1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bioCMS</a:t>
            </a:r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 vs GMOD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9395A34-408A-57BF-641D-8549439639B2}"/>
              </a:ext>
            </a:extLst>
          </p:cNvPr>
          <p:cNvSpPr txBox="1"/>
          <p:nvPr/>
        </p:nvSpPr>
        <p:spPr>
          <a:xfrm>
            <a:off x="107822" y="1603057"/>
            <a:ext cx="693915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Realizzato per dati microbiologici tabellari;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AD72BA27-C160-FD83-C3BB-20B849CA4EFB}"/>
              </a:ext>
            </a:extLst>
          </p:cNvPr>
          <p:cNvSpPr txBox="1"/>
          <p:nvPr/>
        </p:nvSpPr>
        <p:spPr>
          <a:xfrm>
            <a:off x="106924" y="1972389"/>
            <a:ext cx="580314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Non richiede modelli genomici;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2DBC8374-716F-FAE1-E68A-4DE923CE19DA}"/>
              </a:ext>
            </a:extLst>
          </p:cNvPr>
          <p:cNvSpPr txBox="1"/>
          <p:nvPr/>
        </p:nvSpPr>
        <p:spPr>
          <a:xfrm>
            <a:off x="106924" y="2347079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Integrazione nativa agli LLM;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C4C8AB9E-A0DA-7A89-BE1A-AE30466450BD}"/>
              </a:ext>
            </a:extLst>
          </p:cNvPr>
          <p:cNvSpPr txBox="1"/>
          <p:nvPr/>
        </p:nvSpPr>
        <p:spPr>
          <a:xfrm>
            <a:off x="100827" y="2701022"/>
            <a:ext cx="731495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solidFill>
                  <a:schemeClr val="accent3"/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- Realizzazione di vetrine.</a:t>
            </a:r>
          </a:p>
        </p:txBody>
      </p:sp>
      <p:pic>
        <p:nvPicPr>
          <p:cNvPr id="28" name="Immagine 27">
            <a:extLst>
              <a:ext uri="{FF2B5EF4-FFF2-40B4-BE49-F238E27FC236}">
                <a16:creationId xmlns:a16="http://schemas.microsoft.com/office/drawing/2014/main" id="{04260958-11A1-9284-1E28-BD350AAF45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0071" y="2405989"/>
            <a:ext cx="3834384" cy="3834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223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>
                      <p:stCondLst>
                        <p:cond delay="indefinite"/>
                      </p:stCondLst>
                      <p:childTnLst>
                        <p:par>
                          <p:cTn id="131" fill="hold">
                            <p:stCondLst>
                              <p:cond delay="0"/>
                            </p:stCondLst>
                            <p:childTnLst>
                              <p:par>
                                <p:cTn id="1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6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 build="allAtOnce"/>
      <p:bldP spid="6" grpId="0"/>
      <p:bldP spid="6" grpId="1"/>
      <p:bldP spid="8" grpId="0" build="allAtOnce"/>
      <p:bldP spid="10" grpId="0"/>
      <p:bldP spid="10" grpId="1"/>
      <p:bldP spid="11" grpId="0"/>
      <p:bldP spid="11" grpId="1"/>
      <p:bldP spid="12" grpId="0" build="allAtOnce"/>
      <p:bldP spid="13" grpId="0"/>
      <p:bldP spid="13" grpId="1"/>
      <p:bldP spid="17" grpId="0"/>
      <p:bldP spid="17" grpId="1"/>
      <p:bldP spid="18" grpId="0"/>
      <p:bldP spid="18" grpId="1"/>
      <p:bldP spid="19" grpId="0" build="allAtOnce"/>
      <p:bldP spid="20" grpId="0"/>
      <p:bldP spid="20" grpId="1"/>
      <p:bldP spid="22" grpId="0"/>
      <p:bldP spid="22" grpId="1"/>
      <p:bldP spid="23" grpId="0"/>
      <p:bldP spid="23" grpId="1"/>
      <p:bldP spid="24" grpId="0" build="allAtOnce"/>
      <p:bldP spid="25" grpId="0"/>
      <p:bldP spid="25" grpId="1"/>
      <p:bldP spid="26" grpId="0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43C800-C146-76E7-CCBC-569C3B844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184D23FA-4C07-6D6F-4E0C-1E293E3E543F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7B9881D-33BB-5D9D-4739-3F952F092B35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Metodologia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EEB1983-9A8D-331E-2C19-6B8617631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80E59D54-38E0-2280-3F0D-2199E5C51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23DC5B38-69B2-9319-D34A-C03998F4E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7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241859B-3790-FD2D-06A7-4C8E128D9F99}"/>
              </a:ext>
            </a:extLst>
          </p:cNvPr>
          <p:cNvSpPr txBox="1"/>
          <p:nvPr/>
        </p:nvSpPr>
        <p:spPr>
          <a:xfrm>
            <a:off x="3048" y="1114146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Containerizzazione ed ambiente di sviluppo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F1A07A92-3229-739E-F045-43BFF89EE9E5}"/>
              </a:ext>
            </a:extLst>
          </p:cNvPr>
          <p:cNvSpPr txBox="1"/>
          <p:nvPr/>
        </p:nvSpPr>
        <p:spPr>
          <a:xfrm>
            <a:off x="103876" y="1586096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Docker per portabilità, isolamento e replicabilità dell’ambiente;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73E3BB7-F818-8297-0596-4568D90C1057}"/>
              </a:ext>
            </a:extLst>
          </p:cNvPr>
          <p:cNvSpPr txBox="1"/>
          <p:nvPr/>
        </p:nvSpPr>
        <p:spPr>
          <a:xfrm>
            <a:off x="103876" y="1953278"/>
            <a:ext cx="973506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Dockerfile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basato su Ubuntu 26.04 con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Apache+PHP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MariaDB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MongoDB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, Python e Ollama;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28FFAD47-1DC4-435E-3A3A-931673BC4C95}"/>
              </a:ext>
            </a:extLst>
          </p:cNvPr>
          <p:cNvSpPr txBox="1"/>
          <p:nvPr/>
        </p:nvSpPr>
        <p:spPr>
          <a:xfrm>
            <a:off x="103876" y="2371599"/>
            <a:ext cx="924015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Docker-Compose per orchestrazione dei servizi e gestione delle variabili d’ambiente.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090CED39-38B1-DA4A-46F8-B25A51BC8B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217" y="2758978"/>
            <a:ext cx="2497185" cy="242174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2B480735-A797-DD4D-EF2B-A93A0ED658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26711" y="2774076"/>
            <a:ext cx="5037141" cy="2409721"/>
          </a:xfrm>
          <a:prstGeom prst="rect">
            <a:avLst/>
          </a:prstGeom>
        </p:spPr>
      </p:pic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6CDD00B-B422-88AC-CEF8-C738D711BBD1}"/>
              </a:ext>
            </a:extLst>
          </p:cNvPr>
          <p:cNvSpPr txBox="1"/>
          <p:nvPr/>
        </p:nvSpPr>
        <p:spPr>
          <a:xfrm>
            <a:off x="4658456" y="5301277"/>
            <a:ext cx="6020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di distribuzione con </a:t>
            </a:r>
            <a:r>
              <a:rPr lang="it-IT" dirty="0" err="1"/>
              <a:t>ollama</a:t>
            </a:r>
            <a:r>
              <a:rPr lang="it-IT" dirty="0"/>
              <a:t> installato sull’host.</a:t>
            </a: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A8E4015-3B10-FEC5-93D4-2492F7B4C0FE}"/>
              </a:ext>
            </a:extLst>
          </p:cNvPr>
          <p:cNvSpPr txBox="1"/>
          <p:nvPr/>
        </p:nvSpPr>
        <p:spPr>
          <a:xfrm>
            <a:off x="839221" y="5301277"/>
            <a:ext cx="33343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Diagramma di distribuzione con</a:t>
            </a:r>
          </a:p>
          <a:p>
            <a:r>
              <a:rPr lang="it-IT" dirty="0" err="1"/>
              <a:t>ollama</a:t>
            </a:r>
            <a:r>
              <a:rPr lang="it-IT" dirty="0"/>
              <a:t> installato sul container.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C335E36C-57E3-D0E7-9C73-F9443CF9F1B8}"/>
              </a:ext>
            </a:extLst>
          </p:cNvPr>
          <p:cNvSpPr txBox="1"/>
          <p:nvPr/>
        </p:nvSpPr>
        <p:spPr>
          <a:xfrm>
            <a:off x="3048" y="1114146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Configurazione di avvio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458EDD8E-B773-8040-5CF7-BE8EBE51FE96}"/>
              </a:ext>
            </a:extLst>
          </p:cNvPr>
          <p:cNvSpPr txBox="1"/>
          <p:nvPr/>
        </p:nvSpPr>
        <p:spPr>
          <a:xfrm>
            <a:off x="103876" y="1586096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Apache con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virtualHost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3C5806A4-6894-261A-77C5-6445E4A2B48C}"/>
              </a:ext>
            </a:extLst>
          </p:cNvPr>
          <p:cNvSpPr txBox="1"/>
          <p:nvPr/>
        </p:nvSpPr>
        <p:spPr>
          <a:xfrm>
            <a:off x="103876" y="1953278"/>
            <a:ext cx="973506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Script di setup automatico per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MariaDB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e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MongoDB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31A45478-E635-E574-59AB-228E5F9C5E5C}"/>
              </a:ext>
            </a:extLst>
          </p:cNvPr>
          <p:cNvSpPr txBox="1"/>
          <p:nvPr/>
        </p:nvSpPr>
        <p:spPr>
          <a:xfrm>
            <a:off x="103876" y="2371599"/>
            <a:ext cx="9240150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Ambiente python isolato configurato per l’utilizzo di Flask,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Pydantic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,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Pandas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e Ollama.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631AC11C-D214-0917-EF93-504E474A8459}"/>
              </a:ext>
            </a:extLst>
          </p:cNvPr>
          <p:cNvSpPr txBox="1"/>
          <p:nvPr/>
        </p:nvSpPr>
        <p:spPr>
          <a:xfrm>
            <a:off x="3048" y="1114146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Backend LLM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8752086F-7A5C-0822-08F6-6AD040AAE858}"/>
              </a:ext>
            </a:extLst>
          </p:cNvPr>
          <p:cNvSpPr txBox="1"/>
          <p:nvPr/>
        </p:nvSpPr>
        <p:spPr>
          <a:xfrm>
            <a:off x="103876" y="1586096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Server Flask con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blueprint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modulari;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A4F63A0D-4E93-5BDD-2E44-0E4182AFA5E5}"/>
              </a:ext>
            </a:extLst>
          </p:cNvPr>
          <p:cNvSpPr txBox="1"/>
          <p:nvPr/>
        </p:nvSpPr>
        <p:spPr>
          <a:xfrm>
            <a:off x="103874" y="2143025"/>
            <a:ext cx="439391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ChatEngine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: orchestrazione completa del ciclo LLM (streaming, tool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calling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, validazione JSON);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E30B9908-8D14-29CC-CB60-8AA2ED639B55}"/>
              </a:ext>
            </a:extLst>
          </p:cNvPr>
          <p:cNvSpPr txBox="1"/>
          <p:nvPr/>
        </p:nvSpPr>
        <p:spPr>
          <a:xfrm>
            <a:off x="103874" y="3142261"/>
            <a:ext cx="439391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FileManager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+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ToolManager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: gestione file, caching, inferenza schema e sample CSV;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F29C967C-1B25-06E4-E86C-1DE1A9F41899}"/>
              </a:ext>
            </a:extLst>
          </p:cNvPr>
          <p:cNvSpPr txBox="1"/>
          <p:nvPr/>
        </p:nvSpPr>
        <p:spPr>
          <a:xfrm>
            <a:off x="103875" y="4121276"/>
            <a:ext cx="439392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JsonExtractor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: estrazione di JSON validi dal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reasoning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del modello.</a:t>
            </a:r>
          </a:p>
        </p:txBody>
      </p:sp>
      <p:pic>
        <p:nvPicPr>
          <p:cNvPr id="31" name="Immagine 30">
            <a:extLst>
              <a:ext uri="{FF2B5EF4-FFF2-40B4-BE49-F238E27FC236}">
                <a16:creationId xmlns:a16="http://schemas.microsoft.com/office/drawing/2014/main" id="{9EA9AB47-4B6B-276E-2E42-8D908652C53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7794" y="808326"/>
            <a:ext cx="7636594" cy="5683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3543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/>
      <p:bldP spid="3" grpId="1"/>
      <p:bldP spid="5" grpId="0"/>
      <p:bldP spid="5" grpId="1"/>
      <p:bldP spid="6" grpId="0"/>
      <p:bldP spid="6" grpId="1"/>
      <p:bldP spid="13" grpId="0"/>
      <p:bldP spid="13" grpId="1"/>
      <p:bldP spid="17" grpId="0"/>
      <p:bldP spid="17" grpId="1"/>
      <p:bldP spid="22" grpId="0"/>
      <p:bldP spid="22" grpId="1"/>
      <p:bldP spid="23" grpId="0"/>
      <p:bldP spid="23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3B176-CE34-31BE-D98E-80CCDC429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magine 34">
            <a:extLst>
              <a:ext uri="{FF2B5EF4-FFF2-40B4-BE49-F238E27FC236}">
                <a16:creationId xmlns:a16="http://schemas.microsoft.com/office/drawing/2014/main" id="{A09B4B44-F89D-30C3-0D9C-4CCC47FA67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5176" y="844446"/>
            <a:ext cx="7965463" cy="5561239"/>
          </a:xfrm>
          <a:prstGeom prst="rect">
            <a:avLst/>
          </a:prstGeom>
        </p:spPr>
      </p:pic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57DCE647-46A9-8385-8289-54C5094B3E18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353AF6D-B210-8105-8F3B-F2AEE7220C4B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Metodologia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8F941BD3-F444-F4B7-A0C2-41907F3D7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52E6DEA3-A8AA-B105-5131-FC402C07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5CAE469B-5565-3A14-76C0-00FB4749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8</a:t>
            </a:fld>
            <a:endParaRPr lang="it-IT" dirty="0"/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FC871A64-794F-5385-3265-70D1697DD962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Sistema di logging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26984192-392B-B32A-A3D7-C6542518C10A}"/>
              </a:ext>
            </a:extLst>
          </p:cNvPr>
          <p:cNvSpPr txBox="1"/>
          <p:nvPr/>
        </p:nvSpPr>
        <p:spPr>
          <a:xfrm>
            <a:off x="103876" y="1586096"/>
            <a:ext cx="53471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Architettura modulare basata su BaseLogger e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logger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specializzati;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5BDD4E2D-F4C9-7A5E-D566-1BFB4A3F2C62}"/>
              </a:ext>
            </a:extLst>
          </p:cNvPr>
          <p:cNvSpPr txBox="1"/>
          <p:nvPr/>
        </p:nvSpPr>
        <p:spPr>
          <a:xfrm>
            <a:off x="103876" y="2252090"/>
            <a:ext cx="534716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LogManager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: selezione dinamica del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logger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da invocare;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E0B66328-970F-64D8-77A9-CFAF7F8C52F4}"/>
              </a:ext>
            </a:extLst>
          </p:cNvPr>
          <p:cNvSpPr txBox="1"/>
          <p:nvPr/>
        </p:nvSpPr>
        <p:spPr>
          <a:xfrm>
            <a:off x="103875" y="2943322"/>
            <a:ext cx="4998477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Doppio tracciamento degli errori: database + log nativo PHP.</a:t>
            </a:r>
          </a:p>
        </p:txBody>
      </p:sp>
      <p:pic>
        <p:nvPicPr>
          <p:cNvPr id="23" name="Immagine 22">
            <a:extLst>
              <a:ext uri="{FF2B5EF4-FFF2-40B4-BE49-F238E27FC236}">
                <a16:creationId xmlns:a16="http://schemas.microsoft.com/office/drawing/2014/main" id="{279CA0D9-23C6-7564-C3F5-055A157446C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037" y="1324629"/>
            <a:ext cx="6595353" cy="5123429"/>
          </a:xfrm>
          <a:prstGeom prst="rect">
            <a:avLst/>
          </a:prstGeom>
        </p:spPr>
      </p:pic>
      <p:sp>
        <p:nvSpPr>
          <p:cNvPr id="24" name="CasellaDiTesto 23">
            <a:extLst>
              <a:ext uri="{FF2B5EF4-FFF2-40B4-BE49-F238E27FC236}">
                <a16:creationId xmlns:a16="http://schemas.microsoft.com/office/drawing/2014/main" id="{5A7102C3-852A-1C20-FF6B-253263C034D1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Autenticazione e gestione utenti</a:t>
            </a:r>
          </a:p>
        </p:txBody>
      </p: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CFB62EC0-A1C0-3C03-0E77-080C923DF5DC}"/>
              </a:ext>
            </a:extLst>
          </p:cNvPr>
          <p:cNvSpPr txBox="1"/>
          <p:nvPr/>
        </p:nvSpPr>
        <p:spPr>
          <a:xfrm>
            <a:off x="189601" y="2103622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Login a due fasi:</a:t>
            </a:r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099CFFC9-C391-CE53-A0F0-0E48D72D2F15}"/>
              </a:ext>
            </a:extLst>
          </p:cNvPr>
          <p:cNvSpPr txBox="1"/>
          <p:nvPr/>
        </p:nvSpPr>
        <p:spPr>
          <a:xfrm>
            <a:off x="189601" y="1662869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Configurazione iniziale utente admin;</a:t>
            </a:r>
          </a:p>
        </p:txBody>
      </p: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476C57B1-D6EC-1557-EF5C-392043C2EAB0}"/>
              </a:ext>
            </a:extLst>
          </p:cNvPr>
          <p:cNvSpPr txBox="1"/>
          <p:nvPr/>
        </p:nvSpPr>
        <p:spPr>
          <a:xfrm>
            <a:off x="189601" y="3443085"/>
            <a:ext cx="395473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Creazione utente con controlli sui permessi, sicurezza password ed unicità delle username.</a:t>
            </a: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D3C1B6C1-474E-FC9B-E3CC-4AB3381B2F60}"/>
              </a:ext>
            </a:extLst>
          </p:cNvPr>
          <p:cNvSpPr txBox="1"/>
          <p:nvPr/>
        </p:nvSpPr>
        <p:spPr>
          <a:xfrm>
            <a:off x="547238" y="2413028"/>
            <a:ext cx="521538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1) Verifica utente, stato password e generazione token JWT intermedio;</a:t>
            </a:r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C57C9D82-5572-38D2-C424-D7D8A4D90A62}"/>
              </a:ext>
            </a:extLst>
          </p:cNvPr>
          <p:cNvSpPr txBox="1"/>
          <p:nvPr/>
        </p:nvSpPr>
        <p:spPr>
          <a:xfrm>
            <a:off x="547238" y="2984044"/>
            <a:ext cx="7188586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2) Verifica password, generazione token JWT;</a:t>
            </a:r>
          </a:p>
        </p:txBody>
      </p:sp>
      <p:pic>
        <p:nvPicPr>
          <p:cNvPr id="30" name="Immagine 29">
            <a:extLst>
              <a:ext uri="{FF2B5EF4-FFF2-40B4-BE49-F238E27FC236}">
                <a16:creationId xmlns:a16="http://schemas.microsoft.com/office/drawing/2014/main" id="{0389F0B2-F893-E40B-7D6E-48E8B117A0A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4790" y="751712"/>
            <a:ext cx="5663282" cy="5740109"/>
          </a:xfrm>
          <a:prstGeom prst="rect">
            <a:avLst/>
          </a:prstGeom>
        </p:spPr>
      </p:pic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DE9C210C-CF9E-8FE3-74A7-5A18F9EFA19B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Gestione permessi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05305D08-5188-2E67-E779-54BC95B0C006}"/>
              </a:ext>
            </a:extLst>
          </p:cNvPr>
          <p:cNvSpPr txBox="1"/>
          <p:nvPr/>
        </p:nvSpPr>
        <p:spPr>
          <a:xfrm>
            <a:off x="189601" y="2495031"/>
            <a:ext cx="395474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Protezione control escalation dei permessi;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C046621-AECF-16F1-67C7-1311384D5D75}"/>
              </a:ext>
            </a:extLst>
          </p:cNvPr>
          <p:cNvSpPr txBox="1"/>
          <p:nvPr/>
        </p:nvSpPr>
        <p:spPr>
          <a:xfrm>
            <a:off x="189600" y="1662869"/>
            <a:ext cx="399557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Controllo centralizzato dei permessi mediante il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PermissionManager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0E8DCCB3-DEF4-630A-761B-B2F338CB943C}"/>
              </a:ext>
            </a:extLst>
          </p:cNvPr>
          <p:cNvSpPr txBox="1"/>
          <p:nvPr/>
        </p:nvSpPr>
        <p:spPr>
          <a:xfrm>
            <a:off x="189600" y="3230175"/>
            <a:ext cx="3995575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Frontend adattivo: permette di minimizzare le richieste non consentite all’utente.</a:t>
            </a:r>
          </a:p>
        </p:txBody>
      </p:sp>
    </p:spTree>
    <p:extLst>
      <p:ext uri="{BB962C8B-B14F-4D97-AF65-F5344CB8AC3E}">
        <p14:creationId xmlns:p14="http://schemas.microsoft.com/office/powerpoint/2010/main" val="36585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4" grpId="0"/>
      <p:bldP spid="24" grpId="1"/>
      <p:bldP spid="25" grpId="0"/>
      <p:bldP spid="25" grpId="1"/>
      <p:bldP spid="26" grpId="0"/>
      <p:bldP spid="26" grpId="1"/>
      <p:bldP spid="27" grpId="0"/>
      <p:bldP spid="27" grpId="1"/>
      <p:bldP spid="28" grpId="0"/>
      <p:bldP spid="28" grpId="1"/>
      <p:bldP spid="29" grpId="0"/>
      <p:bldP spid="29" grpId="1"/>
      <p:bldP spid="31" grpId="0"/>
      <p:bldP spid="31" grpId="1"/>
      <p:bldP spid="32" grpId="0" build="allAtOnce"/>
      <p:bldP spid="33" grpId="0"/>
      <p:bldP spid="33" grpId="1"/>
      <p:bldP spid="34" grpId="0"/>
      <p:bldP spid="3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32DF8-8D30-67D7-3F54-DEEB0619F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magine 35">
            <a:extLst>
              <a:ext uri="{FF2B5EF4-FFF2-40B4-BE49-F238E27FC236}">
                <a16:creationId xmlns:a16="http://schemas.microsoft.com/office/drawing/2014/main" id="{ADC0672B-8F2F-0634-910F-4EED736370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9676" y="767897"/>
            <a:ext cx="7159314" cy="5691903"/>
          </a:xfrm>
          <a:prstGeom prst="rect">
            <a:avLst/>
          </a:prstGeom>
        </p:spPr>
      </p:pic>
      <p:pic>
        <p:nvPicPr>
          <p:cNvPr id="45" name="Immagine 44">
            <a:extLst>
              <a:ext uri="{FF2B5EF4-FFF2-40B4-BE49-F238E27FC236}">
                <a16:creationId xmlns:a16="http://schemas.microsoft.com/office/drawing/2014/main" id="{C19C9E94-7862-BAEB-A8CC-BBB93F4A7E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6130" y="767208"/>
            <a:ext cx="7095870" cy="5641464"/>
          </a:xfrm>
          <a:prstGeom prst="rect">
            <a:avLst/>
          </a:prstGeom>
        </p:spPr>
      </p:pic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D8182BEB-C813-F7F9-4EA4-4F2B4FFDE1E0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3C1E0AF-1C87-B2B7-5C86-C48A0C4427FE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Metodologia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7FB6FDF9-A48D-F834-5B13-1186A615A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001752CF-9A21-E7BC-5B3D-EAD2014B3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14B4C05A-FEC8-D354-75DA-9C244A308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9</a:t>
            </a:fld>
            <a:endParaRPr lang="it-IT" dirty="0"/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7E4DC0EB-3FBE-582B-B58F-A0F64763CE21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Transazioni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BF864C47-C364-8DAF-4409-2682BE4ACC45}"/>
              </a:ext>
            </a:extLst>
          </p:cNvPr>
          <p:cNvSpPr txBox="1"/>
          <p:nvPr/>
        </p:nvSpPr>
        <p:spPr>
          <a:xfrm>
            <a:off x="103876" y="1586096"/>
            <a:ext cx="50768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Creazione transazione con metadati, allegati e stato applicativo;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B399E06E-6632-3D56-365E-3783BB479752}"/>
              </a:ext>
            </a:extLst>
          </p:cNvPr>
          <p:cNvSpPr txBox="1"/>
          <p:nvPr/>
        </p:nvSpPr>
        <p:spPr>
          <a:xfrm>
            <a:off x="103876" y="2150298"/>
            <a:ext cx="56301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Caricamento file, normalizzazione file ed inserimento nella transazione;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7517CEA5-F62A-313E-0C9E-D73738310E6A}"/>
              </a:ext>
            </a:extLst>
          </p:cNvPr>
          <p:cNvSpPr txBox="1"/>
          <p:nvPr/>
        </p:nvSpPr>
        <p:spPr>
          <a:xfrm>
            <a:off x="103876" y="2714499"/>
            <a:ext cx="4915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Modalità avanzata: dialogo iterativo modello-utente con domande chiarificatrici.</a:t>
            </a:r>
          </a:p>
        </p:txBody>
      </p:sp>
      <p:sp>
        <p:nvSpPr>
          <p:cNvPr id="37" name="CasellaDiTesto 36">
            <a:extLst>
              <a:ext uri="{FF2B5EF4-FFF2-40B4-BE49-F238E27FC236}">
                <a16:creationId xmlns:a16="http://schemas.microsoft.com/office/drawing/2014/main" id="{8B7757EF-D0F0-F521-E1F7-800EE158D129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Elaborazione LLM e generazione database</a:t>
            </a:r>
          </a:p>
        </p:txBody>
      </p:sp>
      <p:sp>
        <p:nvSpPr>
          <p:cNvPr id="38" name="CasellaDiTesto 37">
            <a:extLst>
              <a:ext uri="{FF2B5EF4-FFF2-40B4-BE49-F238E27FC236}">
                <a16:creationId xmlns:a16="http://schemas.microsoft.com/office/drawing/2014/main" id="{1B5AFC73-31E9-AA9E-E806-D3B24F81D8EB}"/>
              </a:ext>
            </a:extLst>
          </p:cNvPr>
          <p:cNvSpPr txBox="1"/>
          <p:nvPr/>
        </p:nvSpPr>
        <p:spPr>
          <a:xfrm>
            <a:off x="103876" y="1586096"/>
            <a:ext cx="507682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Streaming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reasoning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in tempo reale verso il frontend;</a:t>
            </a:r>
          </a:p>
        </p:txBody>
      </p:sp>
      <p:sp>
        <p:nvSpPr>
          <p:cNvPr id="39" name="CasellaDiTesto 38">
            <a:extLst>
              <a:ext uri="{FF2B5EF4-FFF2-40B4-BE49-F238E27FC236}">
                <a16:creationId xmlns:a16="http://schemas.microsoft.com/office/drawing/2014/main" id="{B16BE4A4-1256-9063-2602-7779080FA252}"/>
              </a:ext>
            </a:extLst>
          </p:cNvPr>
          <p:cNvSpPr txBox="1"/>
          <p:nvPr/>
        </p:nvSpPr>
        <p:spPr>
          <a:xfrm>
            <a:off x="103876" y="2150298"/>
            <a:ext cx="563017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Risposta finale strutturata con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sql_schema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e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column_mapping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;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618A44D6-FFC4-95D0-7DB4-6B0E5677B1B9}"/>
              </a:ext>
            </a:extLst>
          </p:cNvPr>
          <p:cNvSpPr txBox="1"/>
          <p:nvPr/>
        </p:nvSpPr>
        <p:spPr>
          <a:xfrm>
            <a:off x="103876" y="2714499"/>
            <a:ext cx="491579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Esecuzione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ResponseProcessor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:</a:t>
            </a:r>
          </a:p>
        </p:txBody>
      </p:sp>
      <p:sp>
        <p:nvSpPr>
          <p:cNvPr id="41" name="CasellaDiTesto 40">
            <a:extLst>
              <a:ext uri="{FF2B5EF4-FFF2-40B4-BE49-F238E27FC236}">
                <a16:creationId xmlns:a16="http://schemas.microsoft.com/office/drawing/2014/main" id="{5C7AF437-B939-8DFC-04CA-4D1751DA1E46}"/>
              </a:ext>
            </a:extLst>
          </p:cNvPr>
          <p:cNvSpPr txBox="1"/>
          <p:nvPr/>
        </p:nvSpPr>
        <p:spPr>
          <a:xfrm>
            <a:off x="461063" y="3153081"/>
            <a:ext cx="491579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1) Estrazione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sql_schema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ed estrazione tabelle;</a:t>
            </a:r>
          </a:p>
          <a:p>
            <a:endParaRPr lang="it-IT" sz="17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2" name="CasellaDiTesto 41">
            <a:extLst>
              <a:ext uri="{FF2B5EF4-FFF2-40B4-BE49-F238E27FC236}">
                <a16:creationId xmlns:a16="http://schemas.microsoft.com/office/drawing/2014/main" id="{4BBEBAEB-FDF0-97C2-4B7C-D44ADDC750A3}"/>
              </a:ext>
            </a:extLst>
          </p:cNvPr>
          <p:cNvSpPr txBox="1"/>
          <p:nvPr/>
        </p:nvSpPr>
        <p:spPr>
          <a:xfrm>
            <a:off x="461063" y="3819075"/>
            <a:ext cx="4915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2) Ordinamento topologico delle tabelle;</a:t>
            </a:r>
          </a:p>
          <a:p>
            <a:endParaRPr lang="it-IT" sz="17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3" name="CasellaDiTesto 42">
            <a:extLst>
              <a:ext uri="{FF2B5EF4-FFF2-40B4-BE49-F238E27FC236}">
                <a16:creationId xmlns:a16="http://schemas.microsoft.com/office/drawing/2014/main" id="{E8011267-0966-6433-BE18-65B78BE4923F}"/>
              </a:ext>
            </a:extLst>
          </p:cNvPr>
          <p:cNvSpPr txBox="1"/>
          <p:nvPr/>
        </p:nvSpPr>
        <p:spPr>
          <a:xfrm>
            <a:off x="461062" y="4279485"/>
            <a:ext cx="49157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3) Creazione tabelle;</a:t>
            </a:r>
          </a:p>
          <a:p>
            <a:endParaRPr lang="it-IT" sz="17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4" name="CasellaDiTesto 43">
            <a:extLst>
              <a:ext uri="{FF2B5EF4-FFF2-40B4-BE49-F238E27FC236}">
                <a16:creationId xmlns:a16="http://schemas.microsoft.com/office/drawing/2014/main" id="{B16205F9-79D5-E823-837D-B9C661AA07E8}"/>
              </a:ext>
            </a:extLst>
          </p:cNvPr>
          <p:cNvSpPr txBox="1"/>
          <p:nvPr/>
        </p:nvSpPr>
        <p:spPr>
          <a:xfrm>
            <a:off x="461063" y="4696238"/>
            <a:ext cx="4623002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3) Inserimento dati contenuti nei file mediante  iteratori.</a:t>
            </a:r>
          </a:p>
          <a:p>
            <a:endParaRPr lang="it-IT" sz="1700" b="1" dirty="0">
              <a:latin typeface="Helvetica" panose="020B0604020202020204" pitchFamily="34" charset="0"/>
              <a:cs typeface="Helvetica" panose="020B0604020202020204" pitchFamily="34" charset="0"/>
            </a:endParaRPr>
          </a:p>
        </p:txBody>
      </p:sp>
      <p:sp>
        <p:nvSpPr>
          <p:cNvPr id="46" name="CasellaDiTesto 45">
            <a:extLst>
              <a:ext uri="{FF2B5EF4-FFF2-40B4-BE49-F238E27FC236}">
                <a16:creationId xmlns:a16="http://schemas.microsoft.com/office/drawing/2014/main" id="{28C66E89-8183-7B49-E63F-D3276CECAD0F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Permessi sulle transazioni</a:t>
            </a:r>
          </a:p>
        </p:txBody>
      </p:sp>
      <p:sp>
        <p:nvSpPr>
          <p:cNvPr id="47" name="CasellaDiTesto 46">
            <a:extLst>
              <a:ext uri="{FF2B5EF4-FFF2-40B4-BE49-F238E27FC236}">
                <a16:creationId xmlns:a16="http://schemas.microsoft.com/office/drawing/2014/main" id="{86B51CAC-A3AA-BA8D-8639-C3E3FB8CD40E}"/>
              </a:ext>
            </a:extLst>
          </p:cNvPr>
          <p:cNvSpPr txBox="1"/>
          <p:nvPr/>
        </p:nvSpPr>
        <p:spPr>
          <a:xfrm>
            <a:off x="103876" y="1586096"/>
            <a:ext cx="678269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Modello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discezionale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: proprietario, admin e gruppi autorizzati;</a:t>
            </a:r>
          </a:p>
        </p:txBody>
      </p:sp>
      <p:sp>
        <p:nvSpPr>
          <p:cNvPr id="48" name="CasellaDiTesto 47">
            <a:extLst>
              <a:ext uri="{FF2B5EF4-FFF2-40B4-BE49-F238E27FC236}">
                <a16:creationId xmlns:a16="http://schemas.microsoft.com/office/drawing/2014/main" id="{74B0FB67-21DE-DBA5-79D7-8D85BB332B90}"/>
              </a:ext>
            </a:extLst>
          </p:cNvPr>
          <p:cNvSpPr txBox="1"/>
          <p:nvPr/>
        </p:nvSpPr>
        <p:spPr>
          <a:xfrm>
            <a:off x="103876" y="2001451"/>
            <a:ext cx="83924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Controllo su upload,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advanced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processing, dashboard, import ed eliminazioni.</a:t>
            </a:r>
          </a:p>
        </p:txBody>
      </p:sp>
      <p:sp>
        <p:nvSpPr>
          <p:cNvPr id="53" name="CasellaDiTesto 52">
            <a:extLst>
              <a:ext uri="{FF2B5EF4-FFF2-40B4-BE49-F238E27FC236}">
                <a16:creationId xmlns:a16="http://schemas.microsoft.com/office/drawing/2014/main" id="{72F6C331-FE7C-15A0-7E1C-0B9D5E3C901E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Vetrine transazioni</a:t>
            </a:r>
          </a:p>
        </p:txBody>
      </p:sp>
      <p:sp>
        <p:nvSpPr>
          <p:cNvPr id="54" name="CasellaDiTesto 53">
            <a:extLst>
              <a:ext uri="{FF2B5EF4-FFF2-40B4-BE49-F238E27FC236}">
                <a16:creationId xmlns:a16="http://schemas.microsoft.com/office/drawing/2014/main" id="{49ECBFC2-654D-01AA-4F25-32965E6ED33B}"/>
              </a:ext>
            </a:extLst>
          </p:cNvPr>
          <p:cNvSpPr txBox="1"/>
          <p:nvPr/>
        </p:nvSpPr>
        <p:spPr>
          <a:xfrm>
            <a:off x="103876" y="1586096"/>
            <a:ext cx="678269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Generazione automatica dei grafici basati sulle transazioni;</a:t>
            </a:r>
          </a:p>
        </p:txBody>
      </p:sp>
      <p:sp>
        <p:nvSpPr>
          <p:cNvPr id="55" name="CasellaDiTesto 54">
            <a:extLst>
              <a:ext uri="{FF2B5EF4-FFF2-40B4-BE49-F238E27FC236}">
                <a16:creationId xmlns:a16="http://schemas.microsoft.com/office/drawing/2014/main" id="{0B8BD049-5087-FE1B-84A3-B9332C87E497}"/>
              </a:ext>
            </a:extLst>
          </p:cNvPr>
          <p:cNvSpPr txBox="1"/>
          <p:nvPr/>
        </p:nvSpPr>
        <p:spPr>
          <a:xfrm>
            <a:off x="103876" y="2001451"/>
            <a:ext cx="83924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Widget avanzati per la visualizzazione degli allegati alla transazione.</a:t>
            </a:r>
          </a:p>
        </p:txBody>
      </p:sp>
      <p:pic>
        <p:nvPicPr>
          <p:cNvPr id="56" name="Immagine 55">
            <a:extLst>
              <a:ext uri="{FF2B5EF4-FFF2-40B4-BE49-F238E27FC236}">
                <a16:creationId xmlns:a16="http://schemas.microsoft.com/office/drawing/2014/main" id="{98AF4833-65B1-1A6C-1E45-F911D20294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4582" y="2472340"/>
            <a:ext cx="6799118" cy="3936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332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1" grpId="1"/>
      <p:bldP spid="32" grpId="0"/>
      <p:bldP spid="32" grpId="1"/>
      <p:bldP spid="33" grpId="0"/>
      <p:bldP spid="33" grpId="1"/>
      <p:bldP spid="34" grpId="0"/>
      <p:bldP spid="34" grpId="1"/>
      <p:bldP spid="37" grpId="0"/>
      <p:bldP spid="37" grpId="1"/>
      <p:bldP spid="38" grpId="0"/>
      <p:bldP spid="38" grpId="1"/>
      <p:bldP spid="39" grpId="0"/>
      <p:bldP spid="39" grpId="1"/>
      <p:bldP spid="40" grpId="0"/>
      <p:bldP spid="40" grpId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6" grpId="0"/>
      <p:bldP spid="46" grpId="1"/>
      <p:bldP spid="47" grpId="0"/>
      <p:bldP spid="47" grpId="1"/>
      <p:bldP spid="48" grpId="0"/>
      <p:bldP spid="48" grpId="1"/>
      <p:bldP spid="53" grpId="0"/>
      <p:bldP spid="53" grpId="1"/>
      <p:bldP spid="54" grpId="0"/>
      <p:bldP spid="54" grpId="1"/>
      <p:bldP spid="55" grpId="0"/>
      <p:bldP spid="55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FC75D7-2EDA-C52B-2658-9C30A1F62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3BE1F520-E642-6CE5-4CBE-E0864876525B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BAABCFC-D77D-54F6-9EB2-83668E7AD6B4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Risultati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5BC914C1-0D31-7F43-20D8-7DB540499D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A677D50E-3CB1-AD1E-AEFB-54C65F604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1E903CC9-2866-967E-1567-1BBD1ABBF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10</a:t>
            </a:fld>
            <a:endParaRPr lang="it-IT" dirty="0"/>
          </a:p>
        </p:txBody>
      </p:sp>
      <p:sp>
        <p:nvSpPr>
          <p:cNvPr id="29" name="CasellaDiTesto 28">
            <a:extLst>
              <a:ext uri="{FF2B5EF4-FFF2-40B4-BE49-F238E27FC236}">
                <a16:creationId xmlns:a16="http://schemas.microsoft.com/office/drawing/2014/main" id="{3168986A-FBCB-B26A-AE52-3045594FC02E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Prestazioni migliorate</a:t>
            </a:r>
          </a:p>
        </p:txBody>
      </p: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CCE229B2-9476-BFF4-F687-8EAF5F311836}"/>
              </a:ext>
            </a:extLst>
          </p:cNvPr>
          <p:cNvSpPr txBox="1"/>
          <p:nvPr/>
        </p:nvSpPr>
        <p:spPr>
          <a:xfrm>
            <a:off x="103875" y="1586096"/>
            <a:ext cx="794474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Riduzione del tempo medio di elaborazione da 3 minuti a circa 1 minuto;</a:t>
            </a:r>
          </a:p>
        </p:txBody>
      </p:sp>
      <p:sp>
        <p:nvSpPr>
          <p:cNvPr id="31" name="CasellaDiTesto 30">
            <a:extLst>
              <a:ext uri="{FF2B5EF4-FFF2-40B4-BE49-F238E27FC236}">
                <a16:creationId xmlns:a16="http://schemas.microsoft.com/office/drawing/2014/main" id="{2B60A52F-69DD-924A-B7F5-FD31ED59ED1F}"/>
              </a:ext>
            </a:extLst>
          </p:cNvPr>
          <p:cNvSpPr txBox="1"/>
          <p:nvPr/>
        </p:nvSpPr>
        <p:spPr>
          <a:xfrm>
            <a:off x="103876" y="1953278"/>
            <a:ext cx="6982724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Miglior reattività grazie a:</a:t>
            </a:r>
          </a:p>
        </p:txBody>
      </p:sp>
      <p:sp>
        <p:nvSpPr>
          <p:cNvPr id="32" name="CasellaDiTesto 31">
            <a:extLst>
              <a:ext uri="{FF2B5EF4-FFF2-40B4-BE49-F238E27FC236}">
                <a16:creationId xmlns:a16="http://schemas.microsoft.com/office/drawing/2014/main" id="{E537919F-F8CE-7506-468C-A85368624EFC}"/>
              </a:ext>
            </a:extLst>
          </p:cNvPr>
          <p:cNvSpPr txBox="1"/>
          <p:nvPr/>
        </p:nvSpPr>
        <p:spPr>
          <a:xfrm>
            <a:off x="547238" y="2377355"/>
            <a:ext cx="391998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1) Caching delle risposte parziali;</a:t>
            </a:r>
          </a:p>
        </p:txBody>
      </p: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93811848-547C-CBE9-9C5A-60C26A1B3AC2}"/>
              </a:ext>
            </a:extLst>
          </p:cNvPr>
          <p:cNvSpPr txBox="1"/>
          <p:nvPr/>
        </p:nvSpPr>
        <p:spPr>
          <a:xfrm>
            <a:off x="547237" y="2731298"/>
            <a:ext cx="45676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2) Ristrutturazione dell’analisi dell’output;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DDE9D142-478D-BDEC-BB1F-B08711CC3F8F}"/>
              </a:ext>
            </a:extLst>
          </p:cNvPr>
          <p:cNvSpPr txBox="1"/>
          <p:nvPr/>
        </p:nvSpPr>
        <p:spPr>
          <a:xfrm>
            <a:off x="547237" y="3085241"/>
            <a:ext cx="456768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3) Gestione incrementale dei dati.</a:t>
            </a:r>
          </a:p>
        </p:txBody>
      </p:sp>
      <p:sp>
        <p:nvSpPr>
          <p:cNvPr id="35" name="CasellaDiTesto 34">
            <a:extLst>
              <a:ext uri="{FF2B5EF4-FFF2-40B4-BE49-F238E27FC236}">
                <a16:creationId xmlns:a16="http://schemas.microsoft.com/office/drawing/2014/main" id="{81EFC9E6-3213-3DB5-5614-51150421BE09}"/>
              </a:ext>
            </a:extLst>
          </p:cNvPr>
          <p:cNvSpPr txBox="1"/>
          <p:nvPr/>
        </p:nvSpPr>
        <p:spPr>
          <a:xfrm>
            <a:off x="-5213" y="3667749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Robustezza su dati eterogenei</a:t>
            </a:r>
          </a:p>
        </p:txBody>
      </p:sp>
      <p:sp>
        <p:nvSpPr>
          <p:cNvPr id="36" name="CasellaDiTesto 35">
            <a:extLst>
              <a:ext uri="{FF2B5EF4-FFF2-40B4-BE49-F238E27FC236}">
                <a16:creationId xmlns:a16="http://schemas.microsoft.com/office/drawing/2014/main" id="{4780A994-BD3D-FE86-EBAE-03D296FEAA3B}"/>
              </a:ext>
            </a:extLst>
          </p:cNvPr>
          <p:cNvSpPr txBox="1"/>
          <p:nvPr/>
        </p:nvSpPr>
        <p:spPr>
          <a:xfrm>
            <a:off x="98662" y="4129271"/>
            <a:ext cx="6387863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Test su dati con strutture diverse, distribuzioni non uniformi e qualità informativa variabile;</a:t>
            </a:r>
          </a:p>
        </p:txBody>
      </p:sp>
      <p:sp>
        <p:nvSpPr>
          <p:cNvPr id="40" name="CasellaDiTesto 39">
            <a:extLst>
              <a:ext uri="{FF2B5EF4-FFF2-40B4-BE49-F238E27FC236}">
                <a16:creationId xmlns:a16="http://schemas.microsoft.com/office/drawing/2014/main" id="{999EF886-F5B9-7261-6C47-BBB26C0FCBBD}"/>
              </a:ext>
            </a:extLst>
          </p:cNvPr>
          <p:cNvSpPr txBox="1"/>
          <p:nvPr/>
        </p:nvSpPr>
        <p:spPr>
          <a:xfrm>
            <a:off x="98662" y="4812951"/>
            <a:ext cx="4567688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Utilizzo di dataset mock con valori anomali, campi mancanti e schemi irregolari.</a:t>
            </a:r>
          </a:p>
        </p:txBody>
      </p:sp>
      <p:pic>
        <p:nvPicPr>
          <p:cNvPr id="42" name="Immagine 41">
            <a:extLst>
              <a:ext uri="{FF2B5EF4-FFF2-40B4-BE49-F238E27FC236}">
                <a16:creationId xmlns:a16="http://schemas.microsoft.com/office/drawing/2014/main" id="{5A4CDEC7-64F6-B5EE-6AFF-21023457DD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8" t="2149" r="6665"/>
          <a:stretch>
            <a:fillRect/>
          </a:stretch>
        </p:blipFill>
        <p:spPr>
          <a:xfrm>
            <a:off x="5699361" y="2014320"/>
            <a:ext cx="6387865" cy="423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938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29" grpId="1"/>
      <p:bldP spid="30" grpId="0" build="allAtOnce"/>
      <p:bldP spid="31" grpId="0"/>
      <p:bldP spid="31" grpId="1"/>
      <p:bldP spid="32" grpId="0" build="allAtOnce"/>
      <p:bldP spid="33" grpId="0"/>
      <p:bldP spid="33" grpId="1"/>
      <p:bldP spid="34" grpId="0"/>
      <p:bldP spid="34" grpId="1"/>
      <p:bldP spid="35" grpId="0"/>
      <p:bldP spid="35" grpId="1"/>
      <p:bldP spid="36" grpId="0" build="allAtOnce"/>
      <p:bldP spid="40" grpId="0"/>
      <p:bldP spid="40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059046-CE1A-354F-86BE-C75F06AD2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B533C3FD-708E-C2C8-D20A-4AD603718B78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F719F6E-6FF8-122C-22A0-5897D23E8474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Conclusioni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440411B3-F061-C71A-EBF5-69A0760392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C9354E6D-F093-BC11-7955-639E6C0C2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3FA46B62-14F5-BA21-DADD-DF240F2271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11</a:t>
            </a:fld>
            <a:endParaRPr lang="it-IT" dirty="0"/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625231B-2676-91A1-27EE-EA2C4F9A8892}"/>
              </a:ext>
            </a:extLst>
          </p:cNvPr>
          <p:cNvSpPr txBox="1"/>
          <p:nvPr/>
        </p:nvSpPr>
        <p:spPr>
          <a:xfrm>
            <a:off x="0" y="1124574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Risultato finale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E2B0DAA7-D678-E7B3-96E9-0B08DB349FDD}"/>
              </a:ext>
            </a:extLst>
          </p:cNvPr>
          <p:cNvSpPr txBox="1"/>
          <p:nvPr/>
        </p:nvSpPr>
        <p:spPr>
          <a:xfrm>
            <a:off x="103875" y="1586096"/>
            <a:ext cx="794474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Sistema avanzato per l’analisi automatizzata di dataset eterogenei, con inferenza strutture dati e generazione schemi SQL coerenti.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47E89649-2A81-A64A-3E00-B263A7BF2097}"/>
              </a:ext>
            </a:extLst>
          </p:cNvPr>
          <p:cNvSpPr txBox="1"/>
          <p:nvPr/>
        </p:nvSpPr>
        <p:spPr>
          <a:xfrm>
            <a:off x="0" y="2334249"/>
            <a:ext cx="77358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b="1" dirty="0">
                <a:solidFill>
                  <a:schemeClr val="accent4">
                    <a:lumMod val="50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rPr>
              <a:t>Possibili sviluppi futuri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1C1B7EE4-30B8-060E-1DB7-CC34E111567C}"/>
              </a:ext>
            </a:extLst>
          </p:cNvPr>
          <p:cNvSpPr txBox="1"/>
          <p:nvPr/>
        </p:nvSpPr>
        <p:spPr>
          <a:xfrm>
            <a:off x="103875" y="2795771"/>
            <a:ext cx="794474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Completamento dashboard con nuovi </a:t>
            </a:r>
            <a:r>
              <a:rPr lang="it-IT" sz="1700" b="1" dirty="0" err="1">
                <a:latin typeface="Helvetica" panose="020B0604020202020204" pitchFamily="34" charset="0"/>
                <a:cs typeface="Helvetica" panose="020B0604020202020204" pitchFamily="34" charset="0"/>
              </a:rPr>
              <a:t>viewer</a:t>
            </a:r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 e widget interattivi;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7FDEF32D-5C34-D907-A5A6-FBC763CB8DA2}"/>
              </a:ext>
            </a:extLst>
          </p:cNvPr>
          <p:cNvSpPr txBox="1"/>
          <p:nvPr/>
        </p:nvSpPr>
        <p:spPr>
          <a:xfrm>
            <a:off x="103875" y="3148196"/>
            <a:ext cx="7944749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Supporto a formati complessi (JSON annidati, XML, API esterne);</a:t>
            </a:r>
          </a:p>
        </p:txBody>
      </p:sp>
      <p:sp>
        <p:nvSpPr>
          <p:cNvPr id="21" name="CasellaDiTesto 20">
            <a:extLst>
              <a:ext uri="{FF2B5EF4-FFF2-40B4-BE49-F238E27FC236}">
                <a16:creationId xmlns:a16="http://schemas.microsoft.com/office/drawing/2014/main" id="{AD496859-E569-8CB2-F6B5-9489EA75137F}"/>
              </a:ext>
            </a:extLst>
          </p:cNvPr>
          <p:cNvSpPr txBox="1"/>
          <p:nvPr/>
        </p:nvSpPr>
        <p:spPr>
          <a:xfrm>
            <a:off x="103875" y="3491096"/>
            <a:ext cx="985997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Esecuzione di algoritmi personalizzati sui dati, con salvataggio dell’output nella transazione;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A38B5ECE-9D7D-E5C6-CE98-87ABC4557BF6}"/>
              </a:ext>
            </a:extLst>
          </p:cNvPr>
          <p:cNvSpPr txBox="1"/>
          <p:nvPr/>
        </p:nvSpPr>
        <p:spPr>
          <a:xfrm>
            <a:off x="103875" y="3824471"/>
            <a:ext cx="963067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Validazione automatica degli schemi, monitoraggio prestazioni, funzionalità collaborative;</a:t>
            </a:r>
          </a:p>
        </p:txBody>
      </p:sp>
      <p:sp>
        <p:nvSpPr>
          <p:cNvPr id="23" name="CasellaDiTesto 22">
            <a:extLst>
              <a:ext uri="{FF2B5EF4-FFF2-40B4-BE49-F238E27FC236}">
                <a16:creationId xmlns:a16="http://schemas.microsoft.com/office/drawing/2014/main" id="{C9AA6663-0447-972C-2422-1C0888D3EBAC}"/>
              </a:ext>
            </a:extLst>
          </p:cNvPr>
          <p:cNvSpPr txBox="1"/>
          <p:nvPr/>
        </p:nvSpPr>
        <p:spPr>
          <a:xfrm>
            <a:off x="103875" y="4167371"/>
            <a:ext cx="8049525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700" b="1" dirty="0">
                <a:latin typeface="Helvetica" panose="020B0604020202020204" pitchFamily="34" charset="0"/>
                <a:cs typeface="Helvetica" panose="020B0604020202020204" pitchFamily="34" charset="0"/>
              </a:rPr>
              <a:t>- Esplorazione di tecniche di elaborazione distribuita per dataset più estesi.</a:t>
            </a:r>
          </a:p>
        </p:txBody>
      </p:sp>
    </p:spTree>
    <p:extLst>
      <p:ext uri="{BB962C8B-B14F-4D97-AF65-F5344CB8AC3E}">
        <p14:creationId xmlns:p14="http://schemas.microsoft.com/office/powerpoint/2010/main" val="3655639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3" grpId="1"/>
      <p:bldP spid="14" grpId="0"/>
      <p:bldP spid="14" grpId="1"/>
      <p:bldP spid="18" grpId="0" build="allAtOnce"/>
      <p:bldP spid="19" grpId="0"/>
      <p:bldP spid="19" grpId="1"/>
      <p:bldP spid="20" grpId="0" build="allAtOnce"/>
      <p:bldP spid="21" grpId="0" build="allAtOnce"/>
      <p:bldP spid="22" grpId="0"/>
      <p:bldP spid="22" grpId="1"/>
      <p:bldP spid="23" grpId="0"/>
      <p:bldP spid="23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D367B-5C2F-9A05-99F3-7A0C1527B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aborazione alternativa 3">
            <a:extLst>
              <a:ext uri="{FF2B5EF4-FFF2-40B4-BE49-F238E27FC236}">
                <a16:creationId xmlns:a16="http://schemas.microsoft.com/office/drawing/2014/main" id="{817293E0-5C77-A907-20FD-38F3CAD0A20B}"/>
              </a:ext>
            </a:extLst>
          </p:cNvPr>
          <p:cNvSpPr>
            <a:spLocks/>
          </p:cNvSpPr>
          <p:nvPr/>
        </p:nvSpPr>
        <p:spPr>
          <a:xfrm>
            <a:off x="0" y="-152400"/>
            <a:ext cx="12192000" cy="885825"/>
          </a:xfrm>
          <a:prstGeom prst="flowChartAlternateProcess">
            <a:avLst/>
          </a:prstGeom>
          <a:solidFill>
            <a:srgbClr val="006AB5"/>
          </a:solidFill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F2A2A53-F411-2A46-0CCD-B5194E1F2E57}"/>
              </a:ext>
            </a:extLst>
          </p:cNvPr>
          <p:cNvSpPr txBox="1">
            <a:spLocks/>
          </p:cNvSpPr>
          <p:nvPr/>
        </p:nvSpPr>
        <p:spPr>
          <a:xfrm>
            <a:off x="104774" y="55572"/>
            <a:ext cx="5943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800" b="1" dirty="0">
                <a:solidFill>
                  <a:schemeClr val="bg1"/>
                </a:solidFill>
                <a:latin typeface="Bahnschrift" panose="020B0502040204020203" pitchFamily="34" charset="0"/>
              </a:rPr>
              <a:t>Esempio d’esecuzione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00BF30F1-4C5E-B034-03E9-6D867D1D2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3852" y="0"/>
            <a:ext cx="2123374" cy="707792"/>
          </a:xfrm>
          <a:prstGeom prst="rect">
            <a:avLst/>
          </a:prstGeom>
        </p:spPr>
      </p:pic>
      <p:sp>
        <p:nvSpPr>
          <p:cNvPr id="15" name="Segnaposto piè di pagina 14">
            <a:extLst>
              <a:ext uri="{FF2B5EF4-FFF2-40B4-BE49-F238E27FC236}">
                <a16:creationId xmlns:a16="http://schemas.microsoft.com/office/drawing/2014/main" id="{B72F87AC-4FE3-2E40-5747-3CA4E5149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08673"/>
            <a:ext cx="4114800" cy="365125"/>
          </a:xfrm>
        </p:spPr>
        <p:txBody>
          <a:bodyPr/>
          <a:lstStyle/>
          <a:p>
            <a:r>
              <a:rPr lang="it-IT" dirty="0"/>
              <a:t>Anno Accademico 2025-2026</a:t>
            </a:r>
          </a:p>
        </p:txBody>
      </p:sp>
      <p:sp>
        <p:nvSpPr>
          <p:cNvPr id="16" name="Segnaposto numero diapositiva 15">
            <a:extLst>
              <a:ext uri="{FF2B5EF4-FFF2-40B4-BE49-F238E27FC236}">
                <a16:creationId xmlns:a16="http://schemas.microsoft.com/office/drawing/2014/main" id="{BA0FADB8-1B59-A1B6-F24E-0E70B082F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44026" y="6408672"/>
            <a:ext cx="2743200" cy="365125"/>
          </a:xfrm>
        </p:spPr>
        <p:txBody>
          <a:bodyPr/>
          <a:lstStyle/>
          <a:p>
            <a:fld id="{E7CADFC1-4D5E-43AA-AA46-3B7564996145}" type="slidenum">
              <a:rPr lang="it-IT" smtClean="0"/>
              <a:t>12</a:t>
            </a:fld>
            <a:endParaRPr lang="it-IT" dirty="0"/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41E921D8-C74A-389F-C094-65C93F7B53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63" y="1650492"/>
            <a:ext cx="3707737" cy="3557016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8652038C-12C3-5C4F-1788-A82373BF97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89" y="1650492"/>
            <a:ext cx="3581083" cy="3557016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78265F87-9390-1488-5049-CAA1E49568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991" y="1644158"/>
            <a:ext cx="3707737" cy="3569683"/>
          </a:xfrm>
          <a:prstGeom prst="rect">
            <a:avLst/>
          </a:prstGeom>
        </p:spPr>
      </p:pic>
      <p:cxnSp>
        <p:nvCxnSpPr>
          <p:cNvPr id="12" name="Connettore 2 11">
            <a:extLst>
              <a:ext uri="{FF2B5EF4-FFF2-40B4-BE49-F238E27FC236}">
                <a16:creationId xmlns:a16="http://schemas.microsoft.com/office/drawing/2014/main" id="{DFB361F2-17A1-C4EE-5E82-F74575874D39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3975272" y="3429000"/>
            <a:ext cx="1347719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4" name="Immagine 13">
            <a:extLst>
              <a:ext uri="{FF2B5EF4-FFF2-40B4-BE49-F238E27FC236}">
                <a16:creationId xmlns:a16="http://schemas.microsoft.com/office/drawing/2014/main" id="{1B940D19-4453-2FBF-E708-4B07E980AB0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368" y="1041479"/>
            <a:ext cx="10241280" cy="5059139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86D1240B-3EB6-06C1-AB3D-5EC5C385325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533" y="1316735"/>
            <a:ext cx="3671739" cy="4224528"/>
          </a:xfrm>
          <a:prstGeom prst="rect">
            <a:avLst/>
          </a:prstGeom>
        </p:spPr>
      </p:pic>
      <p:pic>
        <p:nvPicPr>
          <p:cNvPr id="20" name="Immagine 19">
            <a:extLst>
              <a:ext uri="{FF2B5EF4-FFF2-40B4-BE49-F238E27FC236}">
                <a16:creationId xmlns:a16="http://schemas.microsoft.com/office/drawing/2014/main" id="{11AD35FC-6329-DF66-B7C3-A083A32FC1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2777" y="1644158"/>
            <a:ext cx="3209887" cy="1969385"/>
          </a:xfrm>
          <a:prstGeom prst="rect">
            <a:avLst/>
          </a:prstGeom>
        </p:spPr>
      </p:pic>
      <p:pic>
        <p:nvPicPr>
          <p:cNvPr id="22" name="Immagine 21">
            <a:extLst>
              <a:ext uri="{FF2B5EF4-FFF2-40B4-BE49-F238E27FC236}">
                <a16:creationId xmlns:a16="http://schemas.microsoft.com/office/drawing/2014/main" id="{3FD79B3D-F6DE-7795-1FC1-297F749797F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3872" y="1631813"/>
            <a:ext cx="2962069" cy="1994073"/>
          </a:xfrm>
          <a:prstGeom prst="rect">
            <a:avLst/>
          </a:prstGeom>
        </p:spPr>
      </p:pic>
      <p:pic>
        <p:nvPicPr>
          <p:cNvPr id="24" name="Immagine 23">
            <a:extLst>
              <a:ext uri="{FF2B5EF4-FFF2-40B4-BE49-F238E27FC236}">
                <a16:creationId xmlns:a16="http://schemas.microsoft.com/office/drawing/2014/main" id="{475DEFD9-E352-E85D-2ED9-46A053B61D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720" y="3873157"/>
            <a:ext cx="3052727" cy="2008548"/>
          </a:xfrm>
          <a:prstGeom prst="rect">
            <a:avLst/>
          </a:prstGeom>
        </p:spPr>
      </p:pic>
      <p:cxnSp>
        <p:nvCxnSpPr>
          <p:cNvPr id="26" name="Connettore 2 25">
            <a:extLst>
              <a:ext uri="{FF2B5EF4-FFF2-40B4-BE49-F238E27FC236}">
                <a16:creationId xmlns:a16="http://schemas.microsoft.com/office/drawing/2014/main" id="{26123F47-4D16-A0E3-EE80-94792AB3462E}"/>
              </a:ext>
            </a:extLst>
          </p:cNvPr>
          <p:cNvCxnSpPr>
            <a:stCxn id="18" idx="3"/>
            <a:endCxn id="20" idx="1"/>
          </p:cNvCxnSpPr>
          <p:nvPr/>
        </p:nvCxnSpPr>
        <p:spPr>
          <a:xfrm flipV="1">
            <a:off x="3975272" y="2628851"/>
            <a:ext cx="327505" cy="8001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ttore 2 27">
            <a:extLst>
              <a:ext uri="{FF2B5EF4-FFF2-40B4-BE49-F238E27FC236}">
                <a16:creationId xmlns:a16="http://schemas.microsoft.com/office/drawing/2014/main" id="{1AE78D91-1ACC-1041-9BAA-DC808CA932F0}"/>
              </a:ext>
            </a:extLst>
          </p:cNvPr>
          <p:cNvCxnSpPr>
            <a:stCxn id="20" idx="3"/>
            <a:endCxn id="22" idx="1"/>
          </p:cNvCxnSpPr>
          <p:nvPr/>
        </p:nvCxnSpPr>
        <p:spPr>
          <a:xfrm flipV="1">
            <a:off x="7512664" y="2628850"/>
            <a:ext cx="301208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ttore 2 30">
            <a:extLst>
              <a:ext uri="{FF2B5EF4-FFF2-40B4-BE49-F238E27FC236}">
                <a16:creationId xmlns:a16="http://schemas.microsoft.com/office/drawing/2014/main" id="{C2211E14-A5B0-DC67-D750-F788BC52D51F}"/>
              </a:ext>
            </a:extLst>
          </p:cNvPr>
          <p:cNvCxnSpPr>
            <a:stCxn id="22" idx="2"/>
            <a:endCxn id="24" idx="0"/>
          </p:cNvCxnSpPr>
          <p:nvPr/>
        </p:nvCxnSpPr>
        <p:spPr>
          <a:xfrm flipH="1">
            <a:off x="7434084" y="3625886"/>
            <a:ext cx="1860823" cy="2472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" name="Immagine 32">
            <a:extLst>
              <a:ext uri="{FF2B5EF4-FFF2-40B4-BE49-F238E27FC236}">
                <a16:creationId xmlns:a16="http://schemas.microsoft.com/office/drawing/2014/main" id="{D9E08F41-A989-AC79-21F4-DA6BAC063642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85" y="1316735"/>
            <a:ext cx="4451928" cy="4297680"/>
          </a:xfrm>
          <a:prstGeom prst="rect">
            <a:avLst/>
          </a:prstGeom>
        </p:spPr>
      </p:pic>
      <p:pic>
        <p:nvPicPr>
          <p:cNvPr id="35" name="Immagine 34">
            <a:extLst>
              <a:ext uri="{FF2B5EF4-FFF2-40B4-BE49-F238E27FC236}">
                <a16:creationId xmlns:a16="http://schemas.microsoft.com/office/drawing/2014/main" id="{3FA95538-064A-33D3-4F0B-A79F3F01171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703" y="1275587"/>
            <a:ext cx="3672101" cy="4379976"/>
          </a:xfrm>
          <a:prstGeom prst="rect">
            <a:avLst/>
          </a:prstGeom>
        </p:spPr>
      </p:pic>
      <p:cxnSp>
        <p:nvCxnSpPr>
          <p:cNvPr id="37" name="Connettore 2 36">
            <a:extLst>
              <a:ext uri="{FF2B5EF4-FFF2-40B4-BE49-F238E27FC236}">
                <a16:creationId xmlns:a16="http://schemas.microsoft.com/office/drawing/2014/main" id="{CF6482C7-3B59-C59B-4284-88A4410CF490}"/>
              </a:ext>
            </a:extLst>
          </p:cNvPr>
          <p:cNvCxnSpPr>
            <a:stCxn id="33" idx="3"/>
            <a:endCxn id="35" idx="1"/>
          </p:cNvCxnSpPr>
          <p:nvPr/>
        </p:nvCxnSpPr>
        <p:spPr>
          <a:xfrm>
            <a:off x="4682313" y="3465575"/>
            <a:ext cx="112639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40" name="Immagine 39">
            <a:extLst>
              <a:ext uri="{FF2B5EF4-FFF2-40B4-BE49-F238E27FC236}">
                <a16:creationId xmlns:a16="http://schemas.microsoft.com/office/drawing/2014/main" id="{40C1A85B-41A0-4F7A-181A-A255669F5CC0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385" y="1243585"/>
            <a:ext cx="3957258" cy="4992624"/>
          </a:xfrm>
          <a:prstGeom prst="rect">
            <a:avLst/>
          </a:prstGeom>
        </p:spPr>
      </p:pic>
      <p:pic>
        <p:nvPicPr>
          <p:cNvPr id="42" name="Immagine 41">
            <a:extLst>
              <a:ext uri="{FF2B5EF4-FFF2-40B4-BE49-F238E27FC236}">
                <a16:creationId xmlns:a16="http://schemas.microsoft.com/office/drawing/2014/main" id="{5C5010AD-35A6-600D-4D66-542E7DB836C3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6828" y="886847"/>
            <a:ext cx="1683422" cy="5541265"/>
          </a:xfrm>
          <a:prstGeom prst="rect">
            <a:avLst/>
          </a:prstGeom>
        </p:spPr>
      </p:pic>
      <p:pic>
        <p:nvPicPr>
          <p:cNvPr id="44" name="Immagine 43">
            <a:extLst>
              <a:ext uri="{FF2B5EF4-FFF2-40B4-BE49-F238E27FC236}">
                <a16:creationId xmlns:a16="http://schemas.microsoft.com/office/drawing/2014/main" id="{4AC58A37-FB4E-6F13-CBA7-F23AB81FC20A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4801" y="886847"/>
            <a:ext cx="2307480" cy="5541260"/>
          </a:xfrm>
          <a:prstGeom prst="rect">
            <a:avLst/>
          </a:prstGeom>
        </p:spPr>
      </p:pic>
      <p:pic>
        <p:nvPicPr>
          <p:cNvPr id="46" name="Immagine 45">
            <a:extLst>
              <a:ext uri="{FF2B5EF4-FFF2-40B4-BE49-F238E27FC236}">
                <a16:creationId xmlns:a16="http://schemas.microsoft.com/office/drawing/2014/main" id="{C093D40B-154F-32CD-9930-93F6B39E800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96115" y="887580"/>
            <a:ext cx="2013439" cy="5540527"/>
          </a:xfrm>
          <a:prstGeom prst="rect">
            <a:avLst/>
          </a:prstGeom>
        </p:spPr>
      </p:pic>
      <p:pic>
        <p:nvPicPr>
          <p:cNvPr id="48" name="Immagine 47">
            <a:extLst>
              <a:ext uri="{FF2B5EF4-FFF2-40B4-BE49-F238E27FC236}">
                <a16:creationId xmlns:a16="http://schemas.microsoft.com/office/drawing/2014/main" id="{E8605180-4FBC-89B4-6FC3-8BE1B1F493F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571" y="1243584"/>
            <a:ext cx="3835984" cy="5020105"/>
          </a:xfrm>
          <a:prstGeom prst="rect">
            <a:avLst/>
          </a:prstGeom>
        </p:spPr>
      </p:pic>
      <p:pic>
        <p:nvPicPr>
          <p:cNvPr id="50" name="Immagine 49">
            <a:extLst>
              <a:ext uri="{FF2B5EF4-FFF2-40B4-BE49-F238E27FC236}">
                <a16:creationId xmlns:a16="http://schemas.microsoft.com/office/drawing/2014/main" id="{3C00892F-0711-95EC-5493-8C3A46F363B0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966" y="1263549"/>
            <a:ext cx="4768142" cy="4990491"/>
          </a:xfrm>
          <a:prstGeom prst="rect">
            <a:avLst/>
          </a:prstGeom>
        </p:spPr>
      </p:pic>
      <p:pic>
        <p:nvPicPr>
          <p:cNvPr id="52" name="Immagine 51">
            <a:extLst>
              <a:ext uri="{FF2B5EF4-FFF2-40B4-BE49-F238E27FC236}">
                <a16:creationId xmlns:a16="http://schemas.microsoft.com/office/drawing/2014/main" id="{62FEA57E-B926-C240-750B-875CAA73192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85" y="2146169"/>
            <a:ext cx="5886850" cy="2784651"/>
          </a:xfrm>
          <a:prstGeom prst="rect">
            <a:avLst/>
          </a:prstGeom>
        </p:spPr>
      </p:pic>
      <p:pic>
        <p:nvPicPr>
          <p:cNvPr id="54" name="Immagine 53">
            <a:extLst>
              <a:ext uri="{FF2B5EF4-FFF2-40B4-BE49-F238E27FC236}">
                <a16:creationId xmlns:a16="http://schemas.microsoft.com/office/drawing/2014/main" id="{17166CAD-4AB2-A0FB-C478-CD6E78A2DA2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552" y="1289255"/>
            <a:ext cx="8687582" cy="4268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5451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6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842</TotalTime>
  <Words>1122</Words>
  <Application>Microsoft Office PowerPoint</Application>
  <PresentationFormat>Widescreen</PresentationFormat>
  <Paragraphs>171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20" baseType="lpstr">
      <vt:lpstr>Angsana New</vt:lpstr>
      <vt:lpstr>Aptos</vt:lpstr>
      <vt:lpstr>Aptos Display</vt:lpstr>
      <vt:lpstr>Arial</vt:lpstr>
      <vt:lpstr>Arial Narrow</vt:lpstr>
      <vt:lpstr>Bahnschrift</vt:lpstr>
      <vt:lpstr>Helvetica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Fabio Meloni</dc:creator>
  <cp:lastModifiedBy>Fabio Meloni</cp:lastModifiedBy>
  <cp:revision>31</cp:revision>
  <dcterms:created xsi:type="dcterms:W3CDTF">2026-07-01T08:57:55Z</dcterms:created>
  <dcterms:modified xsi:type="dcterms:W3CDTF">2026-07-07T07:47:17Z</dcterms:modified>
</cp:coreProperties>
</file>